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3"/>
    <p:sldId id="274" r:id="rId4"/>
    <p:sldId id="276" r:id="rId5"/>
    <p:sldId id="275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09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WordArt 4"/>
          <p:cNvSpPr>
            <a:spLocks noChangeArrowheads="1" noChangeShapeType="1" noTextEdit="1"/>
          </p:cNvSpPr>
          <p:nvPr/>
        </p:nvSpPr>
        <p:spPr bwMode="auto">
          <a:xfrm>
            <a:off x="179389" y="0"/>
            <a:ext cx="1656307" cy="40466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chemeClr val="accent1"/>
                  </a:solidFill>
                  <a:round/>
                </a:ln>
                <a:solidFill>
                  <a:schemeClr val="accent2">
                    <a:alpha val="50195"/>
                  </a:scheme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charset="-122"/>
                <a:ea typeface="宋体" charset="-122"/>
              </a:rPr>
              <a:t>国庆作业</a:t>
            </a:r>
            <a:r>
              <a:rPr lang="en-US" altLang="zh-CN" sz="3600" kern="10" dirty="0">
                <a:ln w="12700">
                  <a:solidFill>
                    <a:schemeClr val="accent1"/>
                  </a:solidFill>
                  <a:round/>
                </a:ln>
                <a:solidFill>
                  <a:schemeClr val="accent2">
                    <a:alpha val="50195"/>
                  </a:scheme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charset="-122"/>
                <a:ea typeface="宋体" charset="-122"/>
              </a:rPr>
              <a:t>:</a:t>
            </a:r>
            <a:endParaRPr lang="zh-CN" altLang="en-US" sz="3600" kern="10" dirty="0">
              <a:ln w="12700">
                <a:solidFill>
                  <a:schemeClr val="accent1"/>
                </a:solidFill>
                <a:round/>
              </a:ln>
              <a:solidFill>
                <a:schemeClr val="accent2">
                  <a:alpha val="50195"/>
                </a:scheme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charset="-122"/>
              <a:ea typeface="宋体" charset="-122"/>
            </a:endParaRPr>
          </a:p>
        </p:txBody>
      </p:sp>
      <p:pic>
        <p:nvPicPr>
          <p:cNvPr id="33795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244408" y="0"/>
            <a:ext cx="1143471" cy="1143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6" name="Text Box 6"/>
          <p:cNvSpPr txBox="1">
            <a:spLocks noChangeArrowheads="1"/>
          </p:cNvSpPr>
          <p:nvPr/>
        </p:nvSpPr>
        <p:spPr bwMode="auto">
          <a:xfrm>
            <a:off x="0" y="404902"/>
            <a:ext cx="9144000" cy="7772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1.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《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教与学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》starterＭ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1-4 完成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，词汇检测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119-120同学可以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申请免做这个作业。</a:t>
            </a:r>
            <a:endParaRPr kumimoji="1" lang="en-US" altLang="zh-CN" sz="2400" b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2.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阅读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《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红发姑娘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》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读后做两个作业：</a:t>
            </a:r>
            <a:endParaRPr kumimoji="1" lang="en-US" altLang="zh-CN" sz="2400" b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     1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）完成书后面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29-33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页练习</a:t>
            </a:r>
            <a:endParaRPr kumimoji="1" lang="en-US" altLang="zh-CN" sz="2400" b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     2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）完成读书报告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—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卷。并准备回来做阅读小测试。</a:t>
            </a:r>
            <a:endParaRPr kumimoji="1" lang="en-US" altLang="zh-CN" sz="2400" b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3. 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在国庆期间完成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Starter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模块的“语音秀”过关赛。在“晓黑板”录对话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itchFamily="18" charset="0"/>
              </a:rPr>
              <a:t>视频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上传。老师根据视频内容进行打分评奖。</a:t>
            </a:r>
            <a:endParaRPr kumimoji="1" lang="en-US" altLang="zh-CN" sz="2400" b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具体步骤：</a:t>
            </a:r>
            <a:endParaRPr kumimoji="1" lang="en-US" altLang="zh-CN" sz="2400" b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    1</a:t>
            </a:r>
            <a:r>
              <a:rPr kumimoji="1" lang="zh-CN" altLang="en-US" sz="2400" b="1" dirty="0" smtClean="0">
                <a:solidFill>
                  <a:schemeClr val="accent2"/>
                </a:solidFill>
                <a:latin typeface="Times New Roman" pitchFamily="18" charset="0"/>
              </a:rPr>
              <a:t>）先确定</a:t>
            </a:r>
            <a:r>
              <a:rPr kumimoji="1" lang="en-US" altLang="zh-CN" sz="2400" b="1" dirty="0" smtClean="0">
                <a:solidFill>
                  <a:schemeClr val="accent2"/>
                </a:solidFill>
                <a:latin typeface="Times New Roman" pitchFamily="18" charset="0"/>
              </a:rPr>
              <a:t>1-2</a:t>
            </a:r>
            <a:r>
              <a:rPr kumimoji="1" lang="zh-CN" altLang="en-US" sz="2400" b="1" dirty="0" smtClean="0">
                <a:solidFill>
                  <a:schemeClr val="accent2"/>
                </a:solidFill>
                <a:latin typeface="Times New Roman" pitchFamily="18" charset="0"/>
              </a:rPr>
              <a:t>位对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话伙伴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---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同学</a:t>
            </a:r>
            <a:r>
              <a:rPr kumimoji="1" lang="zh-CN" altLang="en-US" sz="2400" b="1" dirty="0" smtClean="0">
                <a:solidFill>
                  <a:schemeClr val="accent2"/>
                </a:solidFill>
                <a:latin typeface="Times New Roman" pitchFamily="18" charset="0"/>
              </a:rPr>
              <a:t>、好友、家长、皆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可。</a:t>
            </a:r>
            <a:endParaRPr kumimoji="1" lang="en-US" altLang="zh-CN" sz="2400" b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    2</a:t>
            </a:r>
            <a:r>
              <a:rPr kumimoji="1" lang="zh-CN" altLang="en-US" sz="2400" b="1" dirty="0" smtClean="0">
                <a:solidFill>
                  <a:schemeClr val="accent2"/>
                </a:solidFill>
                <a:latin typeface="Times New Roman" pitchFamily="18" charset="0"/>
              </a:rPr>
              <a:t>）</a:t>
            </a:r>
            <a:r>
              <a:rPr kumimoji="1" lang="zh-CN" altLang="en-US" sz="2400" b="1" u="sng" dirty="0" smtClean="0">
                <a:solidFill>
                  <a:srgbClr val="002060"/>
                </a:solidFill>
                <a:latin typeface="Times New Roman" pitchFamily="18" charset="0"/>
              </a:rPr>
              <a:t>再将</a:t>
            </a:r>
            <a:r>
              <a:rPr kumimoji="1" lang="en-US" altLang="zh-CN" sz="2400" b="1" u="sng" dirty="0">
                <a:solidFill>
                  <a:srgbClr val="002060"/>
                </a:solidFill>
                <a:latin typeface="Times New Roman" pitchFamily="18" charset="0"/>
              </a:rPr>
              <a:t>Starter</a:t>
            </a:r>
            <a:r>
              <a:rPr kumimoji="1" lang="zh-CN" altLang="en-US" sz="2400" b="1" u="sng" dirty="0">
                <a:solidFill>
                  <a:srgbClr val="002060"/>
                </a:solidFill>
                <a:latin typeface="Times New Roman" pitchFamily="18" charset="0"/>
              </a:rPr>
              <a:t>模块所有重点句型进行梳理</a:t>
            </a:r>
            <a:r>
              <a:rPr kumimoji="1" lang="en-US" altLang="zh-CN" sz="2400" b="1" u="sng" dirty="0">
                <a:solidFill>
                  <a:srgbClr val="002060"/>
                </a:solidFill>
                <a:latin typeface="Times New Roman" pitchFamily="18" charset="0"/>
              </a:rPr>
              <a:t>---</a:t>
            </a:r>
            <a:r>
              <a:rPr kumimoji="1" lang="zh-CN" altLang="en-US" sz="2400" b="1" u="sng" dirty="0">
                <a:solidFill>
                  <a:srgbClr val="002060"/>
                </a:solidFill>
                <a:latin typeface="Times New Roman" pitchFamily="18" charset="0"/>
              </a:rPr>
              <a:t>先写出来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。（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9.28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已布置，已经完成的同学，不必重复）</a:t>
            </a:r>
            <a:endParaRPr kumimoji="1" lang="zh-CN" altLang="en-US" sz="2400" b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    3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）选取老师提供的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6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个话题之一，或者自拟话题。将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Starter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模块学过</a:t>
            </a:r>
            <a:r>
              <a:rPr kumimoji="1" lang="zh-CN" altLang="en-US" sz="2400" b="1" dirty="0" smtClean="0">
                <a:solidFill>
                  <a:schemeClr val="accent2"/>
                </a:solidFill>
                <a:latin typeface="Times New Roman" pitchFamily="18" charset="0"/>
              </a:rPr>
              <a:t>的重点句型进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行运用。可将对话进行适当的拓展。也可用上道</a:t>
            </a:r>
            <a:r>
              <a:rPr kumimoji="1" lang="zh-CN" altLang="en-US" sz="2400" b="1" dirty="0" smtClean="0">
                <a:solidFill>
                  <a:schemeClr val="accent2"/>
                </a:solidFill>
                <a:latin typeface="Times New Roman" pitchFamily="18" charset="0"/>
              </a:rPr>
              <a:t>具，变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换场景。时间控制在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</a:rPr>
              <a:t>5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分钟</a:t>
            </a:r>
            <a:r>
              <a:rPr kumimoji="1" lang="zh-CN" altLang="en-US" sz="2400" b="1" dirty="0" smtClean="0">
                <a:solidFill>
                  <a:schemeClr val="accent2"/>
                </a:solidFill>
                <a:latin typeface="Times New Roman" pitchFamily="18" charset="0"/>
              </a:rPr>
              <a:t>内。</a:t>
            </a:r>
            <a:endParaRPr kumimoji="1" lang="en-US" altLang="zh-CN" sz="2400" b="1" dirty="0">
              <a:solidFill>
                <a:schemeClr val="accent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</a:rPr>
              <a:t>     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itchFamily="18" charset="0"/>
              </a:rPr>
              <a:t>后附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itchFamily="18" charset="0"/>
              </a:rPr>
              <a:t>: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itchFamily="18" charset="0"/>
              </a:rPr>
              <a:t>评分标准 和</a:t>
            </a:r>
            <a:r>
              <a:rPr kumimoji="1" lang="en-US" altLang="zh-CN" sz="2400" b="1" dirty="0">
                <a:solidFill>
                  <a:srgbClr val="002060"/>
                </a:solidFill>
                <a:latin typeface="Times New Roman" pitchFamily="18" charset="0"/>
              </a:rPr>
              <a:t>6</a:t>
            </a:r>
            <a:r>
              <a:rPr kumimoji="1" lang="zh-CN" altLang="en-US" sz="2400" b="1" dirty="0">
                <a:solidFill>
                  <a:srgbClr val="002060"/>
                </a:solidFill>
                <a:latin typeface="Times New Roman" pitchFamily="18" charset="0"/>
              </a:rPr>
              <a:t>个话题。</a:t>
            </a:r>
            <a:endParaRPr kumimoji="1" lang="en-US" altLang="zh-CN" sz="2400" b="1" dirty="0">
              <a:solidFill>
                <a:srgbClr val="002060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50000"/>
              </a:spcBef>
              <a:buFont typeface="Wingdings" charset="2"/>
              <a:buNone/>
            </a:pPr>
            <a:endParaRPr kumimoji="1" lang="en-US" altLang="zh-CN" sz="2400" b="1" dirty="0">
              <a:solidFill>
                <a:srgbClr val="0070C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504" y="1628800"/>
            <a:ext cx="9230412" cy="467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ea1ChsPlain"/>
            </a:pPr>
            <a:r>
              <a:rPr lang="zh-CN" altLang="en-US" sz="2800" dirty="0"/>
              <a:t>发音准确、语调符合场景、语言流畅、语速适中   </a:t>
            </a:r>
            <a:r>
              <a:rPr lang="en-US" altLang="zh-CN" sz="2800" dirty="0"/>
              <a:t>5</a:t>
            </a:r>
            <a:r>
              <a:rPr lang="zh-CN" altLang="en-US" sz="2800" dirty="0"/>
              <a:t>分。</a:t>
            </a:r>
            <a:endParaRPr lang="en-US" altLang="zh-CN" sz="2800" dirty="0"/>
          </a:p>
          <a:p>
            <a:pPr marL="342900" indent="-342900">
              <a:buAutoNum type="ea1ChsPlain"/>
            </a:pPr>
            <a:r>
              <a:rPr lang="zh-CN" altLang="en-US" sz="2800" dirty="0"/>
              <a:t>内容详实，紧扣话题</a:t>
            </a:r>
            <a:r>
              <a:rPr lang="zh-CN" altLang="en-US" sz="2800" dirty="0" smtClean="0"/>
              <a:t>，能用上</a:t>
            </a:r>
            <a:r>
              <a:rPr lang="en-US" altLang="zh-CN" sz="2800" dirty="0" smtClean="0"/>
              <a:t>Starter</a:t>
            </a:r>
            <a:r>
              <a:rPr lang="zh-CN" altLang="en-US" sz="2800" dirty="0" smtClean="0"/>
              <a:t>模块重点句型 </a:t>
            </a:r>
            <a:r>
              <a:rPr lang="en-US" altLang="zh-CN" sz="2800" dirty="0" smtClean="0"/>
              <a:t>5</a:t>
            </a:r>
            <a:r>
              <a:rPr lang="zh-CN" altLang="en-US" sz="2800" dirty="0"/>
              <a:t>分</a:t>
            </a:r>
            <a:endParaRPr lang="en-US" altLang="zh-CN" sz="2800" dirty="0"/>
          </a:p>
          <a:p>
            <a:pPr marL="342900" indent="-342900">
              <a:buAutoNum type="ea1ChsPlain"/>
            </a:pPr>
            <a:r>
              <a:rPr lang="zh-CN" altLang="en-US" sz="2800" dirty="0"/>
              <a:t> </a:t>
            </a:r>
            <a:r>
              <a:rPr lang="zh-CN" altLang="en-US" sz="2800" dirty="0" smtClean="0"/>
              <a:t>内容充实，词汇丰富，并有适当的课外拓展。 </a:t>
            </a:r>
            <a:r>
              <a:rPr lang="en-US" altLang="zh-CN" sz="2800" dirty="0" smtClean="0"/>
              <a:t>5</a:t>
            </a:r>
            <a:r>
              <a:rPr lang="zh-CN" altLang="en-US" sz="2800" dirty="0" smtClean="0"/>
              <a:t>分</a:t>
            </a:r>
            <a:endParaRPr lang="en-US" altLang="zh-CN" sz="2800" dirty="0" smtClean="0"/>
          </a:p>
          <a:p>
            <a:pPr marL="342900" indent="-342900">
              <a:buAutoNum type="ea1ChsPlain"/>
            </a:pPr>
            <a:r>
              <a:rPr lang="en-US" altLang="zh-CN" sz="2800" dirty="0" smtClean="0"/>
              <a:t>  </a:t>
            </a:r>
            <a:r>
              <a:rPr lang="zh-CN" altLang="en-US" sz="2800" dirty="0" smtClean="0"/>
              <a:t>在对话中承当重要的角色，且你的语言的</a:t>
            </a:r>
            <a:r>
              <a:rPr lang="zh-CN" altLang="en-US" sz="2800" dirty="0"/>
              <a:t>比</a:t>
            </a:r>
            <a:r>
              <a:rPr lang="zh-CN" altLang="en-US" sz="2800" dirty="0" smtClean="0"/>
              <a:t>重大    </a:t>
            </a:r>
            <a:r>
              <a:rPr lang="en-US" altLang="zh-CN" sz="2800" dirty="0"/>
              <a:t>5</a:t>
            </a:r>
            <a:r>
              <a:rPr lang="zh-CN" altLang="en-US" sz="2800" dirty="0"/>
              <a:t>分</a:t>
            </a:r>
            <a:endParaRPr lang="en-US" altLang="zh-CN" sz="2800" dirty="0"/>
          </a:p>
          <a:p>
            <a:pPr marL="514350" indent="-514350">
              <a:buAutoNum type="ea1ChsPlain" startAt="5"/>
            </a:pPr>
            <a:r>
              <a:rPr lang="zh-CN" altLang="en-US" sz="2800" dirty="0" smtClean="0"/>
              <a:t>仪</a:t>
            </a:r>
            <a:r>
              <a:rPr lang="zh-CN" altLang="en-US" sz="2800" dirty="0"/>
              <a:t>态端庄，表情自然 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内容合理健康，</a:t>
            </a:r>
            <a:r>
              <a:rPr lang="en-US" altLang="zh-CN" sz="2800" dirty="0" smtClean="0"/>
              <a:t>5</a:t>
            </a:r>
            <a:r>
              <a:rPr lang="zh-CN" altLang="en-US" sz="2800" dirty="0" smtClean="0"/>
              <a:t>分</a:t>
            </a:r>
            <a:endParaRPr lang="en-US" altLang="zh-CN" sz="2800" dirty="0" smtClean="0"/>
          </a:p>
          <a:p>
            <a:pPr marL="514350" indent="-514350">
              <a:buAutoNum type="ea1ChsPlain" startAt="5"/>
            </a:pPr>
            <a:r>
              <a:rPr lang="zh-CN" altLang="en-US" sz="2800" dirty="0" smtClean="0"/>
              <a:t>有</a:t>
            </a:r>
            <a:r>
              <a:rPr lang="zh-CN" altLang="en-US" sz="2800" dirty="0"/>
              <a:t>道具等运用                                                 </a:t>
            </a:r>
            <a:r>
              <a:rPr lang="en-US" altLang="zh-CN" sz="2800" dirty="0" smtClean="0"/>
              <a:t>5</a:t>
            </a:r>
            <a:r>
              <a:rPr lang="zh-CN" altLang="en-US" sz="2800" dirty="0"/>
              <a:t>分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     </a:t>
            </a:r>
            <a:r>
              <a:rPr lang="zh-CN" altLang="en-US" sz="2800" dirty="0"/>
              <a:t>根据以上标准，毎项打出</a:t>
            </a:r>
            <a:r>
              <a:rPr lang="en-US" altLang="zh-CN" sz="2800" dirty="0"/>
              <a:t>5</a:t>
            </a:r>
            <a:r>
              <a:rPr lang="zh-CN" altLang="en-US" sz="2800" dirty="0"/>
              <a:t>、</a:t>
            </a:r>
            <a:r>
              <a:rPr lang="en-US" altLang="zh-CN" sz="2800" dirty="0"/>
              <a:t>4</a:t>
            </a:r>
            <a:r>
              <a:rPr lang="zh-CN" altLang="en-US" sz="2800" dirty="0"/>
              <a:t>、</a:t>
            </a:r>
            <a:r>
              <a:rPr lang="en-US" altLang="zh-CN" sz="2800" dirty="0"/>
              <a:t>3</a:t>
            </a:r>
            <a:r>
              <a:rPr lang="zh-CN" altLang="en-US" sz="2800" dirty="0"/>
              <a:t>、</a:t>
            </a:r>
            <a:r>
              <a:rPr lang="en-US" altLang="zh-CN" sz="2800" dirty="0"/>
              <a:t>2</a:t>
            </a:r>
            <a:r>
              <a:rPr lang="zh-CN" altLang="en-US" sz="2800" dirty="0"/>
              <a:t>、</a:t>
            </a: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0</a:t>
            </a:r>
            <a:r>
              <a:rPr lang="zh-CN" altLang="en-US" sz="2800" dirty="0"/>
              <a:t>分，</a:t>
            </a:r>
            <a:endParaRPr lang="en-US" altLang="zh-CN" sz="2800" dirty="0"/>
          </a:p>
          <a:p>
            <a:r>
              <a:rPr lang="en-US" altLang="zh-CN" sz="2800" dirty="0"/>
              <a:t>     </a:t>
            </a:r>
            <a:r>
              <a:rPr lang="zh-CN" altLang="en-US" sz="2800" dirty="0"/>
              <a:t>累计总分为最后得分。</a:t>
            </a:r>
            <a:endParaRPr lang="en-US" altLang="zh-CN" sz="2800" dirty="0"/>
          </a:p>
          <a:p>
            <a:pPr marL="342900" indent="-342900">
              <a:buAutoNum type="ea1ChsPlain"/>
            </a:pP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267744" y="836712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语音秀评分标准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8"/>
          <p:cNvSpPr txBox="1">
            <a:spLocks noChangeArrowheads="1"/>
          </p:cNvSpPr>
          <p:nvPr/>
        </p:nvSpPr>
        <p:spPr bwMode="auto">
          <a:xfrm>
            <a:off x="1143000" y="228600"/>
            <a:ext cx="7315200" cy="1255713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</a:rPr>
              <a:t>Situation 1:</a:t>
            </a:r>
            <a:endParaRPr lang="en-US" altLang="zh-CN" sz="28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Times New Roman" pitchFamily="18" charset="0"/>
              </a:rPr>
              <a:t>你代表安实中学生会去机场迎</a:t>
            </a:r>
            <a:r>
              <a:rPr lang="zh-CN" altLang="en-US" sz="2800" b="1" dirty="0" smtClean="0">
                <a:latin typeface="Times New Roman" pitchFamily="18" charset="0"/>
              </a:rPr>
              <a:t>接英国</a:t>
            </a:r>
            <a:r>
              <a:rPr lang="zh-CN" altLang="en-US" sz="2800" b="1" dirty="0">
                <a:latin typeface="Times New Roman" pitchFamily="18" charset="0"/>
              </a:rPr>
              <a:t>结对学校的同学，请用英语编对话并展示出来。</a:t>
            </a:r>
            <a:endParaRPr lang="en-US" altLang="zh-CN" sz="2800" b="1" dirty="0">
              <a:latin typeface="Times New Roman" pitchFamily="18" charset="0"/>
            </a:endParaRPr>
          </a:p>
        </p:txBody>
      </p:sp>
      <p:sp>
        <p:nvSpPr>
          <p:cNvPr id="12291" name="Text Box 8"/>
          <p:cNvSpPr txBox="1">
            <a:spLocks noChangeArrowheads="1"/>
          </p:cNvSpPr>
          <p:nvPr/>
        </p:nvSpPr>
        <p:spPr bwMode="auto">
          <a:xfrm>
            <a:off x="1295400" y="1752600"/>
            <a:ext cx="6705600" cy="1643063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</a:rPr>
              <a:t>Situation 2:</a:t>
            </a:r>
            <a:endParaRPr lang="en-US" altLang="zh-CN" sz="28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Times New Roman" pitchFamily="18" charset="0"/>
              </a:rPr>
              <a:t>在你放学回家的路上，你碰见了你的小学同学，你们俩用英语进行了问候并对所在班级和同学情况进行了交流</a:t>
            </a:r>
            <a:r>
              <a:rPr lang="en-US" altLang="zh-CN" sz="2800" b="1" dirty="0">
                <a:latin typeface="Times New Roman" pitchFamily="18" charset="0"/>
              </a:rPr>
              <a:t>……</a:t>
            </a:r>
            <a:endParaRPr lang="en-US" altLang="zh-CN" sz="2800" b="1" dirty="0">
              <a:latin typeface="Times New Roman" pitchFamily="18" charset="0"/>
            </a:endParaRPr>
          </a:p>
        </p:txBody>
      </p:sp>
      <p:sp>
        <p:nvSpPr>
          <p:cNvPr id="12292" name="Text Box 8"/>
          <p:cNvSpPr txBox="1">
            <a:spLocks noChangeArrowheads="1"/>
          </p:cNvSpPr>
          <p:nvPr/>
        </p:nvSpPr>
        <p:spPr bwMode="auto">
          <a:xfrm>
            <a:off x="1295400" y="3657600"/>
            <a:ext cx="6781800" cy="1643063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</a:rPr>
              <a:t>Situation 3</a:t>
            </a:r>
            <a:r>
              <a:rPr lang="zh-CN" altLang="en-US" sz="2800" b="1" dirty="0">
                <a:latin typeface="Times New Roman" pitchFamily="18" charset="0"/>
              </a:rPr>
              <a:t>：</a:t>
            </a:r>
            <a:endParaRPr lang="en-US" altLang="zh-CN" sz="28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</a:rPr>
              <a:t>Tony &amp;Betty </a:t>
            </a:r>
            <a:r>
              <a:rPr lang="zh-CN" altLang="en-US" sz="2800" b="1" dirty="0">
                <a:latin typeface="Times New Roman" pitchFamily="18" charset="0"/>
              </a:rPr>
              <a:t>来到你班进行访问交流，你作为主持人，进行了自我介绍和将他们介绍给你班级同学</a:t>
            </a:r>
            <a:r>
              <a:rPr lang="en-US" altLang="zh-CN" sz="2800" b="1" dirty="0">
                <a:latin typeface="Times New Roman" pitchFamily="18" charset="0"/>
              </a:rPr>
              <a:t>……</a:t>
            </a:r>
            <a:endParaRPr lang="en-US" altLang="zh-CN" sz="2800" b="1" dirty="0">
              <a:latin typeface="Times New Roman" pitchFamily="18" charset="0"/>
            </a:endParaRPr>
          </a:p>
        </p:txBody>
      </p:sp>
      <p:sp>
        <p:nvSpPr>
          <p:cNvPr id="12293" name="Text Box 8"/>
          <p:cNvSpPr txBox="1">
            <a:spLocks noChangeArrowheads="1"/>
          </p:cNvSpPr>
          <p:nvPr/>
        </p:nvSpPr>
        <p:spPr bwMode="auto">
          <a:xfrm>
            <a:off x="1043608" y="5602288"/>
            <a:ext cx="7315200" cy="1255712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b="1">
                <a:latin typeface="Times New Roman" pitchFamily="18" charset="0"/>
              </a:rPr>
              <a:t>Situation 4:</a:t>
            </a:r>
            <a:endParaRPr lang="en-US" altLang="zh-CN" sz="2800" b="1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>
                <a:latin typeface="Times New Roman" pitchFamily="18" charset="0"/>
              </a:rPr>
              <a:t>来自俄罗斯的</a:t>
            </a:r>
            <a:r>
              <a:rPr lang="en-US" altLang="zh-CN" sz="2800" b="1">
                <a:latin typeface="Times New Roman" pitchFamily="18" charset="0"/>
              </a:rPr>
              <a:t>Susan </a:t>
            </a:r>
            <a:r>
              <a:rPr lang="zh-CN" altLang="en-US" sz="2800" b="1">
                <a:latin typeface="Times New Roman" pitchFamily="18" charset="0"/>
              </a:rPr>
              <a:t>刚开始学英语，对于各种物品名称和颜色的发音</a:t>
            </a:r>
            <a:r>
              <a:rPr lang="en-US" altLang="zh-CN" sz="2800" b="1">
                <a:latin typeface="Times New Roman" pitchFamily="18" charset="0"/>
              </a:rPr>
              <a:t>&amp;</a:t>
            </a:r>
            <a:r>
              <a:rPr lang="zh-CN" altLang="en-US" sz="2800" b="1">
                <a:latin typeface="Times New Roman" pitchFamily="18" charset="0"/>
              </a:rPr>
              <a:t>拼写正在向你请教</a:t>
            </a:r>
            <a:r>
              <a:rPr lang="en-US" altLang="zh-CN" sz="2800" b="1">
                <a:latin typeface="Times New Roman" pitchFamily="18" charset="0"/>
              </a:rPr>
              <a:t>…</a:t>
            </a:r>
            <a:endParaRPr lang="en-US" altLang="zh-CN" sz="2800" b="1">
              <a:latin typeface="Times New Roman" pitchFamily="18" charset="0"/>
            </a:endParaRPr>
          </a:p>
        </p:txBody>
      </p:sp>
      <p:sp>
        <p:nvSpPr>
          <p:cNvPr id="12294" name="WordArt 9"/>
          <p:cNvSpPr>
            <a:spLocks noChangeArrowheads="1" noChangeShapeType="1" noTextEdit="1"/>
          </p:cNvSpPr>
          <p:nvPr/>
        </p:nvSpPr>
        <p:spPr bwMode="auto">
          <a:xfrm>
            <a:off x="0" y="0"/>
            <a:ext cx="2663825" cy="642938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宋体" charset="-122"/>
              </a:rPr>
              <a:t>语音秀话题</a:t>
            </a:r>
            <a:r>
              <a:rPr lang="en-US" altLang="zh-CN" sz="3600" b="1" kern="10" dirty="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宋体" charset="-122"/>
              </a:rPr>
              <a:t>:</a:t>
            </a:r>
            <a:endParaRPr lang="zh-CN" altLang="en-US" sz="3600" b="1" kern="10" dirty="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宋体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8"/>
          <p:cNvSpPr txBox="1">
            <a:spLocks noChangeArrowheads="1"/>
          </p:cNvSpPr>
          <p:nvPr/>
        </p:nvSpPr>
        <p:spPr bwMode="auto">
          <a:xfrm>
            <a:off x="1143000" y="356162"/>
            <a:ext cx="7315200" cy="1625600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</a:rPr>
              <a:t>Situation 5</a:t>
            </a:r>
            <a:r>
              <a:rPr lang="en-US" altLang="zh-CN" sz="2800" b="1" dirty="0" smtClean="0">
                <a:latin typeface="Times New Roman" pitchFamily="18" charset="0"/>
              </a:rPr>
              <a:t>:</a:t>
            </a:r>
            <a:endParaRPr lang="en-US" altLang="zh-CN" sz="2800" b="1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 smtClean="0">
                <a:latin typeface="Times New Roman" pitchFamily="18" charset="0"/>
              </a:rPr>
              <a:t>你在澳大利亚旅游期间，结识了新朋友</a:t>
            </a:r>
            <a:r>
              <a:rPr lang="en-US" altLang="zh-CN" sz="2800" b="1" dirty="0" smtClean="0">
                <a:latin typeface="Times New Roman" pitchFamily="18" charset="0"/>
              </a:rPr>
              <a:t>Justin,</a:t>
            </a:r>
            <a:r>
              <a:rPr lang="zh-CN" altLang="en-US" sz="2800" b="1" dirty="0" smtClean="0">
                <a:latin typeface="Times New Roman" pitchFamily="18" charset="0"/>
              </a:rPr>
              <a:t>你们讨论了各自家乡的天气和最喜欢的</a:t>
            </a:r>
            <a:r>
              <a:rPr lang="en-US" altLang="zh-CN" sz="2800" b="1" dirty="0" err="1" smtClean="0">
                <a:latin typeface="Times New Roman" pitchFamily="18" charset="0"/>
              </a:rPr>
              <a:t>Schoolday</a:t>
            </a:r>
            <a:r>
              <a:rPr lang="en-US" altLang="zh-CN" sz="2800" b="1" dirty="0" smtClean="0">
                <a:latin typeface="Times New Roman" pitchFamily="18" charset="0"/>
              </a:rPr>
              <a:t>,</a:t>
            </a:r>
            <a:r>
              <a:rPr lang="zh-CN" altLang="en-US" sz="2800" b="1" dirty="0" smtClean="0">
                <a:latin typeface="Times New Roman" pitchFamily="18" charset="0"/>
              </a:rPr>
              <a:t>以及各自喜欢的运动</a:t>
            </a:r>
            <a:r>
              <a:rPr lang="en-US" altLang="zh-CN" sz="2800" b="1" dirty="0" smtClean="0">
                <a:latin typeface="Times New Roman" pitchFamily="18" charset="0"/>
              </a:rPr>
              <a:t>......</a:t>
            </a:r>
            <a:endParaRPr lang="en-US" altLang="zh-CN" sz="2800" b="1" dirty="0" smtClean="0">
              <a:latin typeface="Times New Roman" pitchFamily="18" charset="0"/>
            </a:endParaRPr>
          </a:p>
        </p:txBody>
      </p:sp>
      <p:sp>
        <p:nvSpPr>
          <p:cNvPr id="12291" name="Text Box 8"/>
          <p:cNvSpPr txBox="1">
            <a:spLocks noChangeArrowheads="1"/>
          </p:cNvSpPr>
          <p:nvPr/>
        </p:nvSpPr>
        <p:spPr bwMode="auto">
          <a:xfrm>
            <a:off x="1219200" y="2204864"/>
            <a:ext cx="6705600" cy="2031325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</a:rPr>
              <a:t>Situation 6:</a:t>
            </a:r>
            <a:endParaRPr lang="en-US" altLang="zh-CN" sz="28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Times New Roman" pitchFamily="18" charset="0"/>
              </a:rPr>
              <a:t>在学校社团，你认识了新的同学，你们俩用英语进行了问候并介绍了自己和班级的情况，并相约在某个时间一起做喜欢的运动</a:t>
            </a:r>
            <a:r>
              <a:rPr lang="en-US" altLang="zh-CN" sz="2800" b="1" dirty="0">
                <a:latin typeface="Times New Roman" pitchFamily="18" charset="0"/>
              </a:rPr>
              <a:t>……</a:t>
            </a:r>
            <a:endParaRPr lang="en-US" altLang="zh-CN" sz="2800" b="1" dirty="0">
              <a:latin typeface="Times New Roman" pitchFamily="18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155822" y="4441364"/>
            <a:ext cx="6705600" cy="2009140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itchFamily="18" charset="0"/>
              </a:rPr>
              <a:t>Situation 7:</a:t>
            </a:r>
            <a:endParaRPr lang="en-US" altLang="zh-CN" sz="28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Times New Roman" pitchFamily="18" charset="0"/>
              </a:rPr>
              <a:t>自拟······</a:t>
            </a:r>
            <a:endParaRPr lang="en-US" altLang="zh-CN" sz="28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Times New Roman" pitchFamily="18" charset="0"/>
            </a:endParaRPr>
          </a:p>
        </p:txBody>
      </p:sp>
      <p:sp>
        <p:nvSpPr>
          <p:cNvPr id="8" name="WordArt 9"/>
          <p:cNvSpPr>
            <a:spLocks noChangeArrowheads="1" noChangeShapeType="1" noTextEdit="1"/>
          </p:cNvSpPr>
          <p:nvPr/>
        </p:nvSpPr>
        <p:spPr bwMode="auto">
          <a:xfrm>
            <a:off x="55485" y="34693"/>
            <a:ext cx="2663825" cy="642938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宋体" charset="-122"/>
              </a:rPr>
              <a:t>语音秀话题</a:t>
            </a:r>
            <a:r>
              <a:rPr lang="en-US" altLang="zh-CN" sz="3600" b="1" kern="10" dirty="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宋体" charset="-122"/>
              </a:rPr>
              <a:t>:</a:t>
            </a:r>
            <a:endParaRPr lang="zh-CN" altLang="en-US" sz="3600" b="1" kern="10" dirty="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宋体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全屏显示(4:3)</PresentationFormat>
  <Paragraphs>39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iPhone (9)</cp:lastModifiedBy>
  <cp:revision>58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2052-9.9.1</vt:lpwstr>
  </property>
</Properties>
</file>