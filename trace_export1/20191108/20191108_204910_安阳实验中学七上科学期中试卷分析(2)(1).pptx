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9"/>
  </p:notesMasterIdLst>
  <p:sldIdLst>
    <p:sldId id="275" r:id="rId4"/>
    <p:sldId id="257" r:id="rId5"/>
    <p:sldId id="259" r:id="rId6"/>
    <p:sldId id="267" r:id="rId7"/>
    <p:sldId id="258" r:id="rId8"/>
    <p:sldId id="262" r:id="rId10"/>
    <p:sldId id="276" r:id="rId11"/>
    <p:sldId id="261" r:id="rId12"/>
    <p:sldId id="263" r:id="rId13"/>
    <p:sldId id="265" r:id="rId14"/>
  </p:sldIdLst>
  <p:sldSz cx="9144000" cy="6858000" type="screen4x3"/>
  <p:notesSz cx="6858000" cy="9144000"/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FF5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 showGuides="1">
      <p:cViewPr varScale="1">
        <p:scale>
          <a:sx n="108" d="100"/>
          <a:sy n="108" d="100"/>
        </p:scale>
        <p:origin x="-1704" y="-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noProof="1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noProof="1" smtClean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316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3077" name="备注占位符 4"/>
          <p:cNvSpPr>
            <a:spLocks noGrp="1" noChangeArrowheads="1"/>
          </p:cNvSpPr>
          <p:nvPr>
            <p:ph type="body" sz="quarter" idx="4294967295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914400" marR="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371600" marR="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828800" marR="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noProof="1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p>
            <a:pPr lvl="0" algn="r" eaLnBrk="1" hangingPunct="1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8" name="幻灯片图像占位符 1"/>
          <p:cNvSpPr>
            <a:spLocks noTextEdit="1"/>
          </p:cNvSpPr>
          <p:nvPr>
            <p:ph type="sldImg"/>
          </p:nvPr>
        </p:nvSpPr>
        <p:spPr>
          <a:ln>
            <a:miter lim="800000"/>
          </a:ln>
        </p:spPr>
      </p:sp>
      <p:sp>
        <p:nvSpPr>
          <p:cNvPr id="14339" name="文本占位符 2"/>
          <p:cNvSpPr/>
          <p:nvPr>
            <p:ph type="body"/>
          </p:nvPr>
        </p:nvSpPr>
        <p:spPr>
          <a:ln/>
        </p:spPr>
        <p:txBody>
          <a:bodyPr wrap="square" lIns="91440" tIns="45720" rIns="91440" bIns="45720" anchor="t"/>
          <a:p>
            <a:pPr lvl="0" eaLnBrk="1" hangingPunct="1"/>
            <a:r>
              <a:rPr lang="zh-CN" altLang="en-US" dirty="0"/>
              <a:t>与</a:t>
            </a:r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noProof="1" smtClean="0"/>
              <a:t>单击此处编辑母版副标题样式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2504" cy="4525963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4296" y="1600200"/>
            <a:ext cx="4032504" cy="4525963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52930" cy="5851525"/>
          </a:xfrm>
        </p:spPr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noProof="1" smtClean="0"/>
              <a:t>单击此处编辑母版副标题样式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2504" cy="4525963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4296" y="1600200"/>
            <a:ext cx="4032504" cy="4525963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52930" cy="5851525"/>
          </a:xfrm>
        </p:spPr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标题 1025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文本占位符 1026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28" name="日期占位符 1027"/>
          <p:cNvSpPr>
            <a:spLocks noGrp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 noProof="1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页脚占位符 1028"/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 noProof="1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灯片编号占位符 1029"/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pPr lvl="0" eaLnBrk="1" hangingPunct="1"/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2pPr>
      <a:lvl3pPr marL="914400" lvl="2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3pPr>
      <a:lvl4pPr marL="1371600" lvl="3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4pPr>
      <a:lvl5pPr marL="1828800" lvl="4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5pPr>
      <a:lvl6pPr marL="2286000" lvl="5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6pPr>
      <a:lvl7pPr marL="2743200" lvl="6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7pPr>
      <a:lvl8pPr marL="3200400" lvl="7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8pPr>
      <a:lvl9pPr marL="3657600" lvl="8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50" name="标题 1025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2051" name="文本占位符 1026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28" name="日期占位符 1027"/>
          <p:cNvSpPr>
            <a:spLocks noGrp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 noProof="1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页脚占位符 1028"/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 noProof="1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灯片编号占位符 1029"/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pPr lvl="0" eaLnBrk="1" hangingPunct="1"/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2pPr>
      <a:lvl3pPr marL="914400" lvl="2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3pPr>
      <a:lvl4pPr marL="1371600" lvl="3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4pPr>
      <a:lvl5pPr marL="1828800" lvl="4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5pPr>
      <a:lvl6pPr marL="2286000" lvl="5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6pPr>
      <a:lvl7pPr marL="2743200" lvl="6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7pPr>
      <a:lvl8pPr marL="3200400" lvl="7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8pPr>
      <a:lvl9pPr marL="3657600" lvl="8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4" name="文本框 3073"/>
          <p:cNvSpPr txBox="1"/>
          <p:nvPr/>
        </p:nvSpPr>
        <p:spPr>
          <a:xfrm>
            <a:off x="1466850" y="2270125"/>
            <a:ext cx="6210300" cy="584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3200" b="1" dirty="0">
                <a:solidFill>
                  <a:schemeClr val="accent2"/>
                </a:solidFill>
                <a:latin typeface="Arial" panose="020B0604020202020204" pitchFamily="34" charset="0"/>
              </a:rPr>
              <a:t>七年级上科学期中试卷分析</a:t>
            </a:r>
            <a:endParaRPr lang="zh-CN" altLang="en-US" sz="3200" b="1" dirty="0">
              <a:solidFill>
                <a:schemeClr val="accent2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8" name="矩形 3132"/>
          <p:cNvSpPr/>
          <p:nvPr/>
        </p:nvSpPr>
        <p:spPr>
          <a:xfrm>
            <a:off x="214313" y="134938"/>
            <a:ext cx="1962150" cy="519112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p>
            <a:r>
              <a:rPr lang="zh-CN" altLang="en-US" sz="2800" b="1" dirty="0">
                <a:latin typeface="Times New Roman" panose="02020603050405020304" pitchFamily="18" charset="0"/>
              </a:rPr>
              <a:t>一、选择题</a:t>
            </a:r>
            <a:endParaRPr lang="zh-CN" altLang="en-US" sz="2800" dirty="0">
              <a:latin typeface="Arial" panose="020B0604020202020204" pitchFamily="34" charset="0"/>
            </a:endParaRPr>
          </a:p>
        </p:txBody>
      </p:sp>
      <p:sp>
        <p:nvSpPr>
          <p:cNvPr id="4099" name="矩形 3400"/>
          <p:cNvSpPr/>
          <p:nvPr/>
        </p:nvSpPr>
        <p:spPr>
          <a:xfrm>
            <a:off x="1588" y="2684463"/>
            <a:ext cx="2182812" cy="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4100" name="表格 4099"/>
          <p:cNvGraphicFramePr/>
          <p:nvPr/>
        </p:nvGraphicFramePr>
        <p:xfrm>
          <a:off x="214313" y="741363"/>
          <a:ext cx="8761412" cy="1949450"/>
        </p:xfrm>
        <a:graphic>
          <a:graphicData uri="http://schemas.openxmlformats.org/drawingml/2006/table">
            <a:tbl>
              <a:tblPr/>
              <a:tblGrid>
                <a:gridCol w="936625"/>
                <a:gridCol w="782638"/>
                <a:gridCol w="782637"/>
                <a:gridCol w="782638"/>
                <a:gridCol w="782637"/>
                <a:gridCol w="782638"/>
                <a:gridCol w="782637"/>
                <a:gridCol w="781050"/>
                <a:gridCol w="782638"/>
                <a:gridCol w="782637"/>
                <a:gridCol w="782638"/>
              </a:tblGrid>
              <a:tr h="427038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题号</a:t>
                      </a:r>
                      <a:endParaRPr lang="en-US" altLang="en-US" sz="2800" b="1" dirty="0"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7" marR="68587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en-US" sz="2800" b="1" dirty="0"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7" marR="68587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altLang="en-US" sz="2800" b="1" dirty="0"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7" marR="68587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altLang="en-US" sz="2800" b="1" dirty="0"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7" marR="68587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altLang="en-US" sz="2800" b="1" dirty="0"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7" marR="68587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US" altLang="en-US" sz="2800" b="1" dirty="0"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7" marR="68587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US" altLang="en-US" sz="2800" b="1" dirty="0"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7" marR="68587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en-US" altLang="en-US" sz="2800" b="1" dirty="0"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7" marR="68587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en-US" altLang="en-US" sz="2800" b="1" dirty="0"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7" marR="68587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en-US" altLang="en-US" sz="2800" b="1" dirty="0"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7" marR="68587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en-US" altLang="en-US" sz="2800" b="1" dirty="0"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7" marR="68587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47687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答案</a:t>
                      </a:r>
                      <a:endParaRPr lang="en-US" altLang="en-US" sz="2800" b="1" dirty="0"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7" marR="68587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None/>
                      </a:pPr>
                      <a:r>
                        <a:rPr lang="en-US" altLang="zh-CN" sz="2800" b="1" dirty="0">
                          <a:latin typeface="宋体" panose="02010600030101010101" pitchFamily="2" charset="-122"/>
                        </a:rPr>
                        <a:t>B</a:t>
                      </a:r>
                      <a:endParaRPr lang="en-US" altLang="en-US" sz="2800" b="1" dirty="0">
                        <a:latin typeface="宋体" panose="02010600030101010101" pitchFamily="2" charset="-122"/>
                      </a:endParaRPr>
                    </a:p>
                  </a:txBody>
                  <a:tcPr marL="68587" marR="68587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None/>
                      </a:pPr>
                      <a:r>
                        <a:rPr lang="en-US" altLang="zh-CN" sz="2800" b="1" dirty="0">
                          <a:latin typeface="宋体" panose="02010600030101010101" pitchFamily="2" charset="-122"/>
                        </a:rPr>
                        <a:t>A</a:t>
                      </a:r>
                      <a:endParaRPr lang="en-US" altLang="en-US" sz="2800" b="1" dirty="0">
                        <a:latin typeface="宋体" panose="02010600030101010101" pitchFamily="2" charset="-122"/>
                      </a:endParaRPr>
                    </a:p>
                  </a:txBody>
                  <a:tcPr marL="68587" marR="68587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None/>
                      </a:pPr>
                      <a:r>
                        <a:rPr lang="en-US" altLang="zh-CN" sz="2800" b="1" dirty="0">
                          <a:latin typeface="宋体" panose="02010600030101010101" pitchFamily="2" charset="-122"/>
                        </a:rPr>
                        <a:t>A</a:t>
                      </a:r>
                      <a:endParaRPr lang="en-US" altLang="en-US" sz="2800" b="1" dirty="0">
                        <a:latin typeface="宋体" panose="02010600030101010101" pitchFamily="2" charset="-122"/>
                      </a:endParaRPr>
                    </a:p>
                  </a:txBody>
                  <a:tcPr marL="68587" marR="68587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None/>
                      </a:pPr>
                      <a:r>
                        <a:rPr lang="en-US" altLang="zh-CN" sz="2800" b="1" dirty="0">
                          <a:latin typeface="宋体" panose="02010600030101010101" pitchFamily="2" charset="-122"/>
                        </a:rPr>
                        <a:t>C</a:t>
                      </a:r>
                      <a:endParaRPr lang="en-US" altLang="en-US" sz="2800" b="1" dirty="0">
                        <a:latin typeface="宋体" panose="02010600030101010101" pitchFamily="2" charset="-122"/>
                      </a:endParaRPr>
                    </a:p>
                  </a:txBody>
                  <a:tcPr marL="68587" marR="68587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None/>
                      </a:pPr>
                      <a:r>
                        <a:rPr lang="en-US" altLang="zh-CN" sz="2800" b="1" dirty="0">
                          <a:latin typeface="宋体" panose="02010600030101010101" pitchFamily="2" charset="-122"/>
                        </a:rPr>
                        <a:t>D</a:t>
                      </a:r>
                      <a:endParaRPr lang="en-US" altLang="en-US" sz="2800" b="1" dirty="0">
                        <a:latin typeface="宋体" panose="02010600030101010101" pitchFamily="2" charset="-122"/>
                      </a:endParaRPr>
                    </a:p>
                  </a:txBody>
                  <a:tcPr marL="68587" marR="68587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None/>
                      </a:pPr>
                      <a:r>
                        <a:rPr lang="en-US" altLang="zh-CN" sz="2800" b="1" dirty="0">
                          <a:latin typeface="宋体" panose="02010600030101010101" pitchFamily="2" charset="-122"/>
                        </a:rPr>
                        <a:t>B</a:t>
                      </a:r>
                      <a:endParaRPr lang="en-US" altLang="en-US" sz="2800" b="1" dirty="0">
                        <a:latin typeface="宋体" panose="02010600030101010101" pitchFamily="2" charset="-122"/>
                      </a:endParaRPr>
                    </a:p>
                  </a:txBody>
                  <a:tcPr marL="68587" marR="68587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None/>
                      </a:pPr>
                      <a:r>
                        <a:rPr lang="en-US" altLang="zh-CN" sz="2800" b="1" dirty="0">
                          <a:latin typeface="宋体" panose="02010600030101010101" pitchFamily="2" charset="-122"/>
                        </a:rPr>
                        <a:t>D</a:t>
                      </a:r>
                      <a:endParaRPr lang="en-US" altLang="en-US" sz="2800" b="1" dirty="0">
                        <a:latin typeface="宋体" panose="02010600030101010101" pitchFamily="2" charset="-122"/>
                      </a:endParaRPr>
                    </a:p>
                  </a:txBody>
                  <a:tcPr marL="68587" marR="68587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None/>
                      </a:pPr>
                      <a:r>
                        <a:rPr lang="en-US" altLang="zh-CN" sz="2800" b="1" dirty="0">
                          <a:latin typeface="宋体" panose="02010600030101010101" pitchFamily="2" charset="-122"/>
                        </a:rPr>
                        <a:t>A</a:t>
                      </a:r>
                      <a:endParaRPr lang="en-US" altLang="en-US" sz="2800" b="1" dirty="0">
                        <a:latin typeface="宋体" panose="02010600030101010101" pitchFamily="2" charset="-122"/>
                      </a:endParaRPr>
                    </a:p>
                  </a:txBody>
                  <a:tcPr marL="68587" marR="68587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None/>
                      </a:pPr>
                      <a:r>
                        <a:rPr lang="en-US" altLang="zh-CN" sz="2800" b="1" dirty="0">
                          <a:latin typeface="宋体" panose="02010600030101010101" pitchFamily="2" charset="-122"/>
                        </a:rPr>
                        <a:t>D</a:t>
                      </a:r>
                      <a:endParaRPr lang="en-US" altLang="en-US" sz="2800" b="1" dirty="0">
                        <a:latin typeface="宋体" panose="02010600030101010101" pitchFamily="2" charset="-122"/>
                      </a:endParaRPr>
                    </a:p>
                  </a:txBody>
                  <a:tcPr marL="68587" marR="68587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None/>
                      </a:pPr>
                      <a:r>
                        <a:rPr lang="en-US" altLang="zh-CN" sz="2800" b="1" dirty="0">
                          <a:latin typeface="宋体" panose="02010600030101010101" pitchFamily="2" charset="-122"/>
                        </a:rPr>
                        <a:t>B</a:t>
                      </a:r>
                      <a:endParaRPr lang="en-US" altLang="en-US" sz="2800" b="1" dirty="0">
                        <a:latin typeface="宋体" panose="02010600030101010101" pitchFamily="2" charset="-122"/>
                      </a:endParaRPr>
                    </a:p>
                  </a:txBody>
                  <a:tcPr marL="68587" marR="68587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7038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题号</a:t>
                      </a:r>
                      <a:endParaRPr lang="en-US" altLang="en-US" sz="2800" b="1" dirty="0"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7" marR="68587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en-US" altLang="en-US" sz="2800" b="1" dirty="0"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7" marR="68587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en-US" altLang="en-US" sz="2800" b="1" dirty="0"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7" marR="68587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</a:t>
                      </a:r>
                      <a:endParaRPr lang="en-US" altLang="en-US" sz="2800" b="1" dirty="0"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7" marR="68587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</a:t>
                      </a:r>
                      <a:endParaRPr lang="en-US" altLang="en-US" sz="2800" b="1" dirty="0"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7" marR="68587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</a:t>
                      </a:r>
                      <a:endParaRPr lang="en-US" altLang="en-US" sz="2800" b="1" dirty="0"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7" marR="68587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</a:t>
                      </a:r>
                      <a:endParaRPr lang="en-US" altLang="en-US" sz="2800" b="1" dirty="0"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7" marR="68587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</a:t>
                      </a:r>
                      <a:endParaRPr lang="en-US" altLang="en-US" sz="2800" b="1" dirty="0"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7" marR="68587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</a:t>
                      </a:r>
                      <a:endParaRPr lang="en-US" altLang="en-US" sz="2800" b="1" dirty="0"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7" marR="68587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</a:t>
                      </a:r>
                      <a:endParaRPr lang="en-US" altLang="en-US" sz="2800" b="1" dirty="0"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7" marR="68587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</a:t>
                      </a:r>
                      <a:endParaRPr lang="en-US" altLang="en-US" sz="2800" b="1" dirty="0"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7" marR="68587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47687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答案</a:t>
                      </a:r>
                      <a:endParaRPr lang="en-US" altLang="en-US" sz="2800" b="1" dirty="0"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7" marR="68587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None/>
                      </a:pPr>
                      <a:r>
                        <a:rPr lang="en-US" altLang="zh-CN" sz="2800" b="1" dirty="0">
                          <a:latin typeface="宋体" panose="02010600030101010101" pitchFamily="2" charset="-122"/>
                        </a:rPr>
                        <a:t>A</a:t>
                      </a:r>
                      <a:endParaRPr lang="en-US" altLang="en-US" sz="2800" b="1" dirty="0">
                        <a:latin typeface="宋体" panose="02010600030101010101" pitchFamily="2" charset="-122"/>
                      </a:endParaRPr>
                    </a:p>
                  </a:txBody>
                  <a:tcPr marL="68587" marR="68587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None/>
                      </a:pPr>
                      <a:r>
                        <a:rPr lang="en-US" altLang="zh-CN" sz="2800" b="1" dirty="0">
                          <a:latin typeface="宋体" panose="02010600030101010101" pitchFamily="2" charset="-122"/>
                        </a:rPr>
                        <a:t>C</a:t>
                      </a:r>
                      <a:endParaRPr lang="en-US" altLang="en-US" sz="2800" b="1" dirty="0">
                        <a:latin typeface="宋体" panose="02010600030101010101" pitchFamily="2" charset="-122"/>
                      </a:endParaRPr>
                    </a:p>
                  </a:txBody>
                  <a:tcPr marL="68587" marR="68587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None/>
                      </a:pPr>
                      <a:r>
                        <a:rPr lang="en-US" altLang="zh-CN" sz="2800" b="1" dirty="0">
                          <a:latin typeface="宋体" panose="02010600030101010101" pitchFamily="2" charset="-122"/>
                        </a:rPr>
                        <a:t>B</a:t>
                      </a:r>
                      <a:endParaRPr lang="en-US" altLang="en-US" sz="2800" b="1" dirty="0">
                        <a:latin typeface="宋体" panose="02010600030101010101" pitchFamily="2" charset="-122"/>
                      </a:endParaRPr>
                    </a:p>
                  </a:txBody>
                  <a:tcPr marL="68587" marR="68587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None/>
                      </a:pPr>
                      <a:r>
                        <a:rPr lang="en-US" altLang="zh-CN" sz="2800" b="1" dirty="0">
                          <a:latin typeface="宋体" panose="02010600030101010101" pitchFamily="2" charset="-122"/>
                        </a:rPr>
                        <a:t>C</a:t>
                      </a:r>
                      <a:endParaRPr lang="en-US" altLang="en-US" sz="2800" b="1" dirty="0">
                        <a:latin typeface="宋体" panose="02010600030101010101" pitchFamily="2" charset="-122"/>
                      </a:endParaRPr>
                    </a:p>
                  </a:txBody>
                  <a:tcPr marL="68587" marR="68587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None/>
                      </a:pPr>
                      <a:r>
                        <a:rPr lang="en-US" altLang="zh-CN" sz="2800" b="1" dirty="0">
                          <a:latin typeface="宋体" panose="02010600030101010101" pitchFamily="2" charset="-122"/>
                        </a:rPr>
                        <a:t>B</a:t>
                      </a:r>
                      <a:endParaRPr lang="en-US" altLang="en-US" sz="2800" b="1" dirty="0">
                        <a:latin typeface="宋体" panose="02010600030101010101" pitchFamily="2" charset="-122"/>
                      </a:endParaRPr>
                    </a:p>
                  </a:txBody>
                  <a:tcPr marL="68587" marR="68587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None/>
                      </a:pPr>
                      <a:r>
                        <a:rPr lang="en-US" altLang="zh-CN" sz="2800" b="1" dirty="0">
                          <a:latin typeface="宋体" panose="02010600030101010101" pitchFamily="2" charset="-122"/>
                        </a:rPr>
                        <a:t>A</a:t>
                      </a:r>
                      <a:endParaRPr lang="en-US" altLang="en-US" sz="2800" b="1" dirty="0">
                        <a:latin typeface="宋体" panose="02010600030101010101" pitchFamily="2" charset="-122"/>
                      </a:endParaRPr>
                    </a:p>
                  </a:txBody>
                  <a:tcPr marL="68587" marR="68587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None/>
                      </a:pPr>
                      <a:r>
                        <a:rPr lang="en-US" altLang="zh-CN" sz="2800" b="1" dirty="0">
                          <a:latin typeface="宋体" panose="02010600030101010101" pitchFamily="2" charset="-122"/>
                        </a:rPr>
                        <a:t>D</a:t>
                      </a:r>
                      <a:endParaRPr lang="en-US" altLang="en-US" sz="2800" b="1" dirty="0">
                        <a:latin typeface="宋体" panose="02010600030101010101" pitchFamily="2" charset="-122"/>
                      </a:endParaRPr>
                    </a:p>
                  </a:txBody>
                  <a:tcPr marL="68587" marR="68587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None/>
                      </a:pPr>
                      <a:r>
                        <a:rPr lang="en-US" altLang="zh-CN" sz="2800" b="1" dirty="0">
                          <a:latin typeface="宋体" panose="02010600030101010101" pitchFamily="2" charset="-122"/>
                        </a:rPr>
                        <a:t>B</a:t>
                      </a:r>
                      <a:endParaRPr lang="en-US" altLang="en-US" sz="2800" b="1" dirty="0">
                        <a:latin typeface="宋体" panose="02010600030101010101" pitchFamily="2" charset="-122"/>
                      </a:endParaRPr>
                    </a:p>
                  </a:txBody>
                  <a:tcPr marL="68587" marR="68587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None/>
                      </a:pPr>
                      <a:r>
                        <a:rPr lang="en-US" altLang="zh-CN" sz="2800" b="1" dirty="0">
                          <a:latin typeface="宋体" panose="02010600030101010101" pitchFamily="2" charset="-122"/>
                        </a:rPr>
                        <a:t>B</a:t>
                      </a:r>
                      <a:endParaRPr lang="en-US" altLang="en-US" sz="2800" b="1" dirty="0">
                        <a:latin typeface="宋体" panose="02010600030101010101" pitchFamily="2" charset="-122"/>
                      </a:endParaRPr>
                    </a:p>
                  </a:txBody>
                  <a:tcPr marL="68587" marR="68587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None/>
                      </a:pPr>
                      <a:r>
                        <a:rPr lang="en-US" altLang="zh-CN" sz="2800" b="1" dirty="0">
                          <a:latin typeface="宋体" panose="02010600030101010101" pitchFamily="2" charset="-122"/>
                        </a:rPr>
                        <a:t>C</a:t>
                      </a:r>
                      <a:endParaRPr lang="en-US" altLang="en-US" sz="2800" b="1" dirty="0">
                        <a:latin typeface="宋体" panose="02010600030101010101" pitchFamily="2" charset="-122"/>
                      </a:endParaRPr>
                    </a:p>
                  </a:txBody>
                  <a:tcPr marL="68587" marR="68587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2" name="文本框 99"/>
          <p:cNvSpPr txBox="1"/>
          <p:nvPr/>
        </p:nvSpPr>
        <p:spPr>
          <a:xfrm>
            <a:off x="196850" y="139700"/>
            <a:ext cx="8750300" cy="26765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zh-CN" sz="2800" b="1" dirty="0">
                <a:latin typeface="Arial" panose="020B0604020202020204" pitchFamily="34" charset="0"/>
              </a:rPr>
              <a:t>二、简答题</a:t>
            </a:r>
            <a:endParaRPr lang="en-US" altLang="zh-CN" sz="2800" b="1" dirty="0">
              <a:latin typeface="宋体" panose="02010600030101010101" pitchFamily="2" charset="-122"/>
            </a:endParaRPr>
          </a:p>
          <a:p>
            <a:r>
              <a:rPr lang="en-US" altLang="zh-CN" sz="2800" b="1" dirty="0">
                <a:latin typeface="宋体" panose="02010600030101010101" pitchFamily="2" charset="-122"/>
              </a:rPr>
              <a:t>21. </a:t>
            </a:r>
            <a:r>
              <a:rPr lang="zh-CN" altLang="zh-CN" sz="2800" b="1" dirty="0">
                <a:latin typeface="Arial" panose="020B0604020202020204" pitchFamily="34" charset="0"/>
              </a:rPr>
              <a:t>（1）毫升  （2）米</a:t>
            </a:r>
            <a:endParaRPr lang="en-US" altLang="zh-CN" sz="2800" b="1" dirty="0">
              <a:latin typeface="宋体" panose="02010600030101010101" pitchFamily="2" charset="-122"/>
            </a:endParaRPr>
          </a:p>
          <a:p>
            <a:r>
              <a:rPr lang="en-US" altLang="zh-CN" sz="2800" b="1" dirty="0">
                <a:latin typeface="宋体" panose="02010600030101010101" pitchFamily="2" charset="-122"/>
              </a:rPr>
              <a:t>22. </a:t>
            </a:r>
            <a:r>
              <a:rPr lang="zh-CN" altLang="zh-CN" sz="2800" b="1" dirty="0">
                <a:latin typeface="Arial" panose="020B0604020202020204" pitchFamily="34" charset="0"/>
              </a:rPr>
              <a:t>（1）甲   （2）</a:t>
            </a:r>
            <a:r>
              <a:rPr lang="en-US" altLang="zh-CN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②</a:t>
            </a:r>
            <a:endParaRPr lang="en-US" altLang="zh-CN" sz="2800" b="1" dirty="0">
              <a:latin typeface="宋体" panose="02010600030101010101" pitchFamily="2" charset="-122"/>
            </a:endParaRPr>
          </a:p>
          <a:p>
            <a:r>
              <a:rPr lang="en-US" altLang="zh-CN" sz="2800" b="1" dirty="0">
                <a:latin typeface="宋体" panose="02010600030101010101" pitchFamily="2" charset="-122"/>
              </a:rPr>
              <a:t>23. </a:t>
            </a:r>
            <a:r>
              <a:rPr lang="zh-CN" altLang="zh-CN" sz="2800" b="1" dirty="0">
                <a:latin typeface="Arial" panose="020B0604020202020204" pitchFamily="34" charset="0"/>
              </a:rPr>
              <a:t>（</a:t>
            </a:r>
            <a:r>
              <a:rPr lang="en-US" altLang="zh-CN" sz="2800" b="1" dirty="0">
                <a:latin typeface="宋体" panose="02010600030101010101" pitchFamily="2" charset="-122"/>
              </a:rPr>
              <a:t>1</a:t>
            </a:r>
            <a:r>
              <a:rPr lang="zh-CN" altLang="zh-CN" sz="2800" b="1" dirty="0">
                <a:latin typeface="Arial" panose="020B0604020202020204" pitchFamily="34" charset="0"/>
              </a:rPr>
              <a:t>）分化</a:t>
            </a:r>
            <a:r>
              <a:rPr lang="en-US" altLang="zh-CN" sz="2800" b="1" dirty="0">
                <a:latin typeface="宋体" panose="02010600030101010101" pitchFamily="2" charset="-122"/>
              </a:rPr>
              <a:t>  </a:t>
            </a:r>
            <a:r>
              <a:rPr lang="zh-CN" altLang="zh-CN" sz="2800" b="1" dirty="0">
                <a:latin typeface="Arial" panose="020B0604020202020204" pitchFamily="34" charset="0"/>
              </a:rPr>
              <a:t>（2）结缔  （3）系统</a:t>
            </a:r>
            <a:endParaRPr lang="zh-CN" altLang="zh-CN" sz="2800" b="1" dirty="0">
              <a:latin typeface="Arial" panose="020B0604020202020204" pitchFamily="34" charset="0"/>
            </a:endParaRPr>
          </a:p>
          <a:p>
            <a:r>
              <a:rPr lang="en-US" altLang="zh-CN" sz="2800" b="1" dirty="0">
                <a:latin typeface="宋体" panose="02010600030101010101" pitchFamily="2" charset="-122"/>
              </a:rPr>
              <a:t>24. </a:t>
            </a:r>
            <a:r>
              <a:rPr lang="zh-CN" altLang="zh-CN" sz="2800" b="1" dirty="0">
                <a:latin typeface="Arial" panose="020B0604020202020204" pitchFamily="34" charset="0"/>
              </a:rPr>
              <a:t>1.95cm（1.92cm-1.97cm之间）  3.5cm（3.3cm-3.7cm之间）  最小刻度（分度值）</a:t>
            </a:r>
            <a:endParaRPr lang="zh-CN" altLang="en-US" sz="2800" b="1" dirty="0">
              <a:latin typeface="Arial" panose="020B0604020202020204" pitchFamily="34" charset="0"/>
            </a:endParaRPr>
          </a:p>
        </p:txBody>
      </p:sp>
      <p:sp>
        <p:nvSpPr>
          <p:cNvPr id="5123" name="文本框 9220"/>
          <p:cNvSpPr txBox="1"/>
          <p:nvPr/>
        </p:nvSpPr>
        <p:spPr>
          <a:xfrm>
            <a:off x="4763" y="3008313"/>
            <a:ext cx="9013825" cy="3108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Arial" panose="020B0604020202020204" pitchFamily="34" charset="0"/>
              </a:rPr>
              <a:t>【</a:t>
            </a:r>
            <a:r>
              <a:rPr lang="zh-CN" altLang="en-US" sz="2800" b="1" dirty="0">
                <a:solidFill>
                  <a:srgbClr val="FF0000"/>
                </a:solidFill>
                <a:latin typeface="Arial" panose="020B0604020202020204" pitchFamily="34" charset="0"/>
              </a:rPr>
              <a:t>错题情况及评分标准</a:t>
            </a:r>
            <a:r>
              <a:rPr lang="zh-CN" altLang="en-US" sz="2800" b="1" dirty="0">
                <a:latin typeface="Arial" panose="020B0604020202020204" pitchFamily="34" charset="0"/>
              </a:rPr>
              <a:t>】本题共</a:t>
            </a:r>
            <a:r>
              <a:rPr lang="en-US" altLang="zh-CN" sz="2800" b="1" dirty="0">
                <a:latin typeface="Arial" panose="020B0604020202020204" pitchFamily="34" charset="0"/>
              </a:rPr>
              <a:t>13</a:t>
            </a:r>
            <a:r>
              <a:rPr lang="zh-CN" altLang="en-US" sz="2800" b="1" dirty="0">
                <a:latin typeface="Arial" panose="020B0604020202020204" pitchFamily="34" charset="0"/>
              </a:rPr>
              <a:t>分，平均得分</a:t>
            </a:r>
            <a:r>
              <a:rPr lang="en-US" altLang="zh-CN" sz="2800" b="1" dirty="0">
                <a:latin typeface="Arial" panose="020B0604020202020204" pitchFamily="34" charset="0"/>
              </a:rPr>
              <a:t>10.8</a:t>
            </a:r>
            <a:r>
              <a:rPr lang="zh-CN" altLang="en-US" sz="2800" b="1" dirty="0">
                <a:latin typeface="Arial" panose="020B0604020202020204" pitchFamily="34" charset="0"/>
              </a:rPr>
              <a:t>分</a:t>
            </a:r>
            <a:br>
              <a:rPr lang="zh-CN" altLang="en-US" sz="2800" b="1" dirty="0">
                <a:latin typeface="Arial" panose="020B0604020202020204" pitchFamily="34" charset="0"/>
              </a:rPr>
            </a:br>
            <a:r>
              <a:rPr lang="en-US" altLang="zh-CN" sz="2800" b="1" dirty="0">
                <a:latin typeface="Arial" panose="020B0604020202020204" pitchFamily="34" charset="0"/>
              </a:rPr>
              <a:t>22</a:t>
            </a:r>
            <a:r>
              <a:rPr lang="zh-CN" altLang="en-US" sz="2800" b="1" dirty="0">
                <a:latin typeface="Arial" panose="020B0604020202020204" pitchFamily="34" charset="0"/>
              </a:rPr>
              <a:t>题第</a:t>
            </a:r>
            <a:r>
              <a:rPr lang="en-US" altLang="zh-CN" sz="2800" b="1" dirty="0">
                <a:latin typeface="Arial" panose="020B0604020202020204" pitchFamily="34" charset="0"/>
              </a:rPr>
              <a:t>2</a:t>
            </a:r>
            <a:r>
              <a:rPr lang="zh-CN" altLang="en-US" sz="2800" b="1" dirty="0">
                <a:latin typeface="Arial" panose="020B0604020202020204" pitchFamily="34" charset="0"/>
              </a:rPr>
              <a:t>小题很多同学没明白题意，个别同学写了名称。</a:t>
            </a:r>
            <a:endParaRPr lang="zh-CN" altLang="en-US" sz="2800" b="1" dirty="0">
              <a:latin typeface="Arial" panose="020B0604020202020204" pitchFamily="34" charset="0"/>
            </a:endParaRPr>
          </a:p>
          <a:p>
            <a:pPr>
              <a:spcBef>
                <a:spcPct val="50000"/>
              </a:spcBef>
            </a:pPr>
            <a:r>
              <a:rPr lang="en-US" altLang="zh-CN" sz="2800" b="1" dirty="0">
                <a:latin typeface="Arial" panose="020B0604020202020204" pitchFamily="34" charset="0"/>
              </a:rPr>
              <a:t>23</a:t>
            </a:r>
            <a:r>
              <a:rPr lang="zh-CN" altLang="en-US" sz="2800" b="1" dirty="0">
                <a:latin typeface="Arial" panose="020B0604020202020204" pitchFamily="34" charset="0"/>
              </a:rPr>
              <a:t>题第</a:t>
            </a:r>
            <a:r>
              <a:rPr lang="en-US" altLang="zh-CN" sz="2800" b="1" dirty="0">
                <a:latin typeface="Arial" panose="020B0604020202020204" pitchFamily="34" charset="0"/>
              </a:rPr>
              <a:t>3</a:t>
            </a:r>
            <a:r>
              <a:rPr lang="zh-CN" altLang="en-US" sz="2800" b="1" dirty="0">
                <a:latin typeface="Arial" panose="020B0604020202020204" pitchFamily="34" charset="0"/>
              </a:rPr>
              <a:t>小题，很多同学不明白</a:t>
            </a:r>
            <a:r>
              <a:rPr lang="en-US" altLang="zh-CN" sz="2800" b="1" dirty="0">
                <a:latin typeface="Arial" panose="020B0604020202020204" pitchFamily="34" charset="0"/>
              </a:rPr>
              <a:t>“</a:t>
            </a:r>
            <a:r>
              <a:rPr lang="zh-CN" altLang="en-US" sz="2800" b="1" dirty="0">
                <a:latin typeface="Arial" panose="020B0604020202020204" pitchFamily="34" charset="0"/>
              </a:rPr>
              <a:t>结构层次</a:t>
            </a:r>
            <a:r>
              <a:rPr lang="en-US" altLang="zh-CN" sz="2800" b="1" dirty="0">
                <a:latin typeface="Arial" panose="020B0604020202020204" pitchFamily="34" charset="0"/>
              </a:rPr>
              <a:t>”</a:t>
            </a:r>
            <a:r>
              <a:rPr lang="zh-CN" altLang="en-US" sz="2800" b="1" dirty="0">
                <a:latin typeface="Arial" panose="020B0604020202020204" pitchFamily="34" charset="0"/>
              </a:rPr>
              <a:t>的含义，填了肌肉组织等动物组织。</a:t>
            </a:r>
            <a:endParaRPr lang="zh-CN" altLang="en-US" sz="2800" b="1" dirty="0">
              <a:latin typeface="Arial" panose="020B0604020202020204" pitchFamily="34" charset="0"/>
            </a:endParaRPr>
          </a:p>
          <a:p>
            <a:pPr>
              <a:spcBef>
                <a:spcPct val="50000"/>
              </a:spcBef>
            </a:pPr>
            <a:r>
              <a:rPr lang="en-US" altLang="zh-CN" sz="2800" b="1" dirty="0">
                <a:latin typeface="Arial" panose="020B0604020202020204" pitchFamily="34" charset="0"/>
              </a:rPr>
              <a:t>24</a:t>
            </a:r>
            <a:r>
              <a:rPr lang="zh-CN" altLang="en-US" sz="2800" b="1" dirty="0">
                <a:latin typeface="Arial" panose="020B0604020202020204" pitchFamily="34" charset="0"/>
              </a:rPr>
              <a:t>题第</a:t>
            </a:r>
            <a:r>
              <a:rPr lang="en-US" altLang="zh-CN" sz="2800" b="1" dirty="0">
                <a:latin typeface="Arial" panose="020B0604020202020204" pitchFamily="34" charset="0"/>
              </a:rPr>
              <a:t>1</a:t>
            </a:r>
            <a:r>
              <a:rPr lang="zh-CN" altLang="en-US" sz="2800" b="1" dirty="0">
                <a:latin typeface="Arial" panose="020B0604020202020204" pitchFamily="34" charset="0"/>
              </a:rPr>
              <a:t>、</a:t>
            </a:r>
            <a:r>
              <a:rPr lang="en-US" altLang="zh-CN" sz="2800" b="1" dirty="0">
                <a:latin typeface="Arial" panose="020B0604020202020204" pitchFamily="34" charset="0"/>
              </a:rPr>
              <a:t>2</a:t>
            </a:r>
            <a:r>
              <a:rPr lang="zh-CN" altLang="en-US" sz="2800" b="1" dirty="0">
                <a:latin typeface="Arial" panose="020B0604020202020204" pitchFamily="34" charset="0"/>
              </a:rPr>
              <a:t>小题，很多同学不会估读，多读或少读一位的比较多。</a:t>
            </a:r>
            <a:endParaRPr lang="zh-CN" altLang="en-US" sz="2800" b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6" name="文本框 99"/>
          <p:cNvSpPr txBox="1"/>
          <p:nvPr/>
        </p:nvSpPr>
        <p:spPr>
          <a:xfrm>
            <a:off x="209550" y="193675"/>
            <a:ext cx="8431213" cy="22447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800" b="1" dirty="0">
                <a:latin typeface="宋体" panose="02010600030101010101" pitchFamily="2" charset="-122"/>
              </a:rPr>
              <a:t>25.</a:t>
            </a:r>
            <a:r>
              <a:rPr lang="zh-CN" altLang="zh-CN" sz="2800" b="1" dirty="0">
                <a:latin typeface="Arial" panose="020B0604020202020204" pitchFamily="34" charset="0"/>
              </a:rPr>
              <a:t>（1）D  （2）苏铁  </a:t>
            </a:r>
            <a:endParaRPr lang="en-US" altLang="zh-CN" sz="2800" b="1" dirty="0">
              <a:latin typeface="宋体" panose="02010600030101010101" pitchFamily="2" charset="-122"/>
            </a:endParaRPr>
          </a:p>
          <a:p>
            <a:r>
              <a:rPr lang="en-US" altLang="zh-CN" sz="2800" b="1" dirty="0">
                <a:latin typeface="宋体" panose="02010600030101010101" pitchFamily="2" charset="-122"/>
              </a:rPr>
              <a:t>26. </a:t>
            </a:r>
            <a:r>
              <a:rPr lang="zh-CN" altLang="zh-CN" sz="2800" b="1" dirty="0">
                <a:latin typeface="Arial" panose="020B0604020202020204" pitchFamily="34" charset="0"/>
              </a:rPr>
              <a:t>37.6℃    小明还没等体温计示数稳定就读数 或小明与体温计未充分接触</a:t>
            </a:r>
            <a:endParaRPr lang="zh-CN" altLang="zh-CN" sz="2800" b="1" dirty="0">
              <a:latin typeface="Arial" panose="020B0604020202020204" pitchFamily="34" charset="0"/>
            </a:endParaRPr>
          </a:p>
          <a:p>
            <a:r>
              <a:rPr lang="en-US" altLang="zh-CN" sz="2800" b="1" dirty="0">
                <a:latin typeface="宋体" panose="02010600030101010101" pitchFamily="2" charset="-122"/>
              </a:rPr>
              <a:t>27.</a:t>
            </a:r>
            <a:r>
              <a:rPr lang="zh-CN" altLang="zh-CN" sz="2800" b="1" dirty="0">
                <a:latin typeface="Arial" panose="020B0604020202020204" pitchFamily="34" charset="0"/>
              </a:rPr>
              <a:t>（1）70毫升（2）偏大（3）一枚大头针体积小，放入量筒中液面变化不明显</a:t>
            </a:r>
            <a:endParaRPr lang="zh-CN" altLang="en-US" sz="2800" b="1" dirty="0">
              <a:latin typeface="Arial" panose="020B0604020202020204" pitchFamily="34" charset="0"/>
            </a:endParaRPr>
          </a:p>
        </p:txBody>
      </p:sp>
      <p:sp>
        <p:nvSpPr>
          <p:cNvPr id="6147" name="文本框 9220"/>
          <p:cNvSpPr txBox="1"/>
          <p:nvPr/>
        </p:nvSpPr>
        <p:spPr>
          <a:xfrm>
            <a:off x="179388" y="2349500"/>
            <a:ext cx="8785225" cy="67706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Arial" panose="020B0604020202020204" pitchFamily="34" charset="0"/>
              </a:rPr>
              <a:t>【</a:t>
            </a:r>
            <a:r>
              <a:rPr lang="zh-CN" altLang="en-US" sz="2800" b="1" dirty="0">
                <a:solidFill>
                  <a:srgbClr val="FF0000"/>
                </a:solidFill>
                <a:latin typeface="Arial" panose="020B0604020202020204" pitchFamily="34" charset="0"/>
              </a:rPr>
              <a:t>错题情况及评分标准</a:t>
            </a:r>
            <a:r>
              <a:rPr lang="zh-CN" altLang="en-US" sz="2800" b="1" dirty="0">
                <a:latin typeface="Arial" panose="020B0604020202020204" pitchFamily="34" charset="0"/>
              </a:rPr>
              <a:t>】本题共</a:t>
            </a:r>
            <a:r>
              <a:rPr lang="en-US" altLang="zh-CN" sz="2800" b="1" dirty="0">
                <a:latin typeface="Arial" panose="020B0604020202020204" pitchFamily="34" charset="0"/>
              </a:rPr>
              <a:t>  14  </a:t>
            </a:r>
            <a:r>
              <a:rPr lang="zh-CN" altLang="en-US" sz="2800" b="1" dirty="0">
                <a:latin typeface="Arial" panose="020B0604020202020204" pitchFamily="34" charset="0"/>
              </a:rPr>
              <a:t>分，平均得分</a:t>
            </a:r>
            <a:r>
              <a:rPr lang="en-US" altLang="zh-CN" sz="2800" b="1" dirty="0">
                <a:latin typeface="Arial" panose="020B0604020202020204" pitchFamily="34" charset="0"/>
              </a:rPr>
              <a:t>   25.</a:t>
            </a:r>
            <a:r>
              <a:rPr lang="zh-CN" altLang="en-US" sz="2800" b="1" dirty="0">
                <a:latin typeface="Arial" panose="020B0604020202020204" pitchFamily="34" charset="0"/>
              </a:rPr>
              <a:t>（</a:t>
            </a:r>
            <a:r>
              <a:rPr lang="en-US" altLang="zh-CN" sz="2800" b="1" dirty="0">
                <a:latin typeface="Arial" panose="020B0604020202020204" pitchFamily="34" charset="0"/>
              </a:rPr>
              <a:t>1</a:t>
            </a:r>
            <a:r>
              <a:rPr lang="zh-CN" altLang="en-US" sz="2800" b="1" dirty="0">
                <a:latin typeface="Arial" panose="020B0604020202020204" pitchFamily="34" charset="0"/>
              </a:rPr>
              <a:t>）只有少数学生写成</a:t>
            </a:r>
            <a:r>
              <a:rPr lang="en-US" altLang="zh-CN" sz="2800" b="1" dirty="0">
                <a:latin typeface="Arial" panose="020B0604020202020204" pitchFamily="34" charset="0"/>
              </a:rPr>
              <a:t>B,</a:t>
            </a:r>
            <a:r>
              <a:rPr lang="zh-CN" altLang="en-US" sz="2800" b="1" dirty="0">
                <a:latin typeface="Arial" panose="020B0604020202020204" pitchFamily="34" charset="0"/>
              </a:rPr>
              <a:t>这大题答题情况良好。</a:t>
            </a:r>
            <a:r>
              <a:rPr lang="en-US" altLang="zh-CN" sz="2800" b="1" dirty="0">
                <a:latin typeface="Arial" panose="020B0604020202020204" pitchFamily="34" charset="0"/>
              </a:rPr>
              <a:t> 26.</a:t>
            </a:r>
            <a:r>
              <a:rPr lang="zh-CN" altLang="en-US" sz="2800" b="1" dirty="0">
                <a:latin typeface="Arial" panose="020B0604020202020204" pitchFamily="34" charset="0"/>
              </a:rPr>
              <a:t>（</a:t>
            </a:r>
            <a:r>
              <a:rPr lang="en-US" altLang="zh-CN" sz="2800" b="1" dirty="0">
                <a:latin typeface="Arial" panose="020B0604020202020204" pitchFamily="34" charset="0"/>
              </a:rPr>
              <a:t>1</a:t>
            </a:r>
            <a:r>
              <a:rPr lang="zh-CN" altLang="en-US" sz="2800" b="1" dirty="0">
                <a:latin typeface="Arial" panose="020B0604020202020204" pitchFamily="34" charset="0"/>
              </a:rPr>
              <a:t>）读数不清，有一部分写成</a:t>
            </a:r>
            <a:r>
              <a:rPr lang="en-US" altLang="zh-CN" sz="2800" b="1" dirty="0">
                <a:latin typeface="Arial" panose="020B0604020202020204" pitchFamily="34" charset="0"/>
              </a:rPr>
              <a:t>37.2</a:t>
            </a:r>
            <a:r>
              <a:rPr lang="zh-CN" altLang="en-US" sz="2800" b="1" dirty="0">
                <a:latin typeface="Arial" panose="020B0604020202020204" pitchFamily="34" charset="0"/>
              </a:rPr>
              <a:t>，也有写成</a:t>
            </a:r>
            <a:r>
              <a:rPr lang="en-US" altLang="zh-CN" sz="2800" b="1" dirty="0">
                <a:latin typeface="Arial" panose="020B0604020202020204" pitchFamily="34" charset="0"/>
              </a:rPr>
              <a:t>37.5</a:t>
            </a:r>
            <a:r>
              <a:rPr lang="zh-CN" altLang="en-US" sz="2800" b="1" dirty="0">
                <a:latin typeface="Arial" panose="020B0604020202020204" pitchFamily="34" charset="0"/>
              </a:rPr>
              <a:t>；（</a:t>
            </a:r>
            <a:r>
              <a:rPr lang="en-US" altLang="zh-CN" sz="2800" b="1" dirty="0">
                <a:latin typeface="Arial" panose="020B0604020202020204" pitchFamily="34" charset="0"/>
              </a:rPr>
              <a:t>2</a:t>
            </a:r>
            <a:r>
              <a:rPr lang="zh-CN" altLang="en-US" sz="2800" b="1" dirty="0">
                <a:latin typeface="Arial" panose="020B0604020202020204" pitchFamily="34" charset="0"/>
              </a:rPr>
              <a:t>）审题不仔细，写成“使用前没甩的很多”或是医务室的某种错误。</a:t>
            </a:r>
            <a:r>
              <a:rPr lang="en-US" altLang="zh-CN" sz="2800" b="1" dirty="0">
                <a:latin typeface="Arial" panose="020B0604020202020204" pitchFamily="34" charset="0"/>
              </a:rPr>
              <a:t>                                                                27</a:t>
            </a:r>
            <a:r>
              <a:rPr lang="zh-CN" altLang="en-US" sz="2800" b="1" dirty="0">
                <a:latin typeface="Arial" panose="020B0604020202020204" pitchFamily="34" charset="0"/>
              </a:rPr>
              <a:t>（</a:t>
            </a:r>
            <a:r>
              <a:rPr lang="en-US" altLang="zh-CN" sz="2800" b="1" dirty="0">
                <a:latin typeface="Arial" panose="020B0604020202020204" pitchFamily="34" charset="0"/>
              </a:rPr>
              <a:t>1</a:t>
            </a:r>
            <a:r>
              <a:rPr lang="zh-CN" altLang="en-US" sz="2800" b="1" dirty="0">
                <a:latin typeface="Arial" panose="020B0604020202020204" pitchFamily="34" charset="0"/>
              </a:rPr>
              <a:t>）审题不仔细，写成</a:t>
            </a:r>
            <a:r>
              <a:rPr lang="en-US" altLang="zh-CN" sz="2800" b="1" dirty="0">
                <a:latin typeface="Arial" panose="020B0604020202020204" pitchFamily="34" charset="0"/>
              </a:rPr>
              <a:t>130</a:t>
            </a:r>
            <a:r>
              <a:rPr lang="zh-CN" altLang="en-US" sz="2800" b="1" dirty="0">
                <a:latin typeface="Arial" panose="020B0604020202020204" pitchFamily="34" charset="0"/>
              </a:rPr>
              <a:t>毫升的较多；一部分单位没写或写成</a:t>
            </a:r>
            <a:r>
              <a:rPr lang="en-US" altLang="zh-CN" sz="2800" b="1" dirty="0">
                <a:latin typeface="Arial" panose="020B0604020202020204" pitchFamily="34" charset="0"/>
              </a:rPr>
              <a:t>cm</a:t>
            </a:r>
            <a:r>
              <a:rPr lang="en-US" altLang="zh-CN" sz="2800" b="1" baseline="30000" dirty="0">
                <a:latin typeface="Arial" panose="020B0604020202020204" pitchFamily="34" charset="0"/>
              </a:rPr>
              <a:t>2</a:t>
            </a:r>
            <a:r>
              <a:rPr lang="zh-CN" altLang="en-US" sz="2800" b="1" dirty="0">
                <a:latin typeface="Arial" panose="020B0604020202020204" pitchFamily="34" charset="0"/>
              </a:rPr>
              <a:t>的，这些均扣一分。</a:t>
            </a:r>
            <a:r>
              <a:rPr lang="en-US" altLang="zh-CN" sz="2800" b="1" dirty="0">
                <a:latin typeface="Arial" panose="020B0604020202020204" pitchFamily="34" charset="0"/>
              </a:rPr>
              <a:t>                                  (2)</a:t>
            </a:r>
            <a:r>
              <a:rPr lang="zh-CN" altLang="en-US" sz="2800" b="1" dirty="0">
                <a:latin typeface="Arial" panose="020B0604020202020204" pitchFamily="34" charset="0"/>
              </a:rPr>
              <a:t>写成“大头针很轻”较多，这酌情给分；若写成“重量或质量很轻”或“沉不下去”等不给分。写成“数量太少，给了</a:t>
            </a:r>
            <a:r>
              <a:rPr lang="en-US" altLang="zh-CN" sz="2800" b="1" dirty="0">
                <a:latin typeface="Arial" panose="020B0604020202020204" pitchFamily="34" charset="0"/>
              </a:rPr>
              <a:t>1</a:t>
            </a:r>
            <a:r>
              <a:rPr lang="zh-CN" altLang="en-US" sz="2800" b="1" dirty="0">
                <a:latin typeface="Arial" panose="020B0604020202020204" pitchFamily="34" charset="0"/>
              </a:rPr>
              <a:t>分。</a:t>
            </a:r>
            <a:br>
              <a:rPr lang="zh-CN" altLang="en-US" sz="2800" b="1" dirty="0">
                <a:latin typeface="Arial" panose="020B0604020202020204" pitchFamily="34" charset="0"/>
              </a:rPr>
            </a:br>
            <a:endParaRPr lang="zh-CN" altLang="en-US" sz="2800" b="1" dirty="0">
              <a:latin typeface="Arial" panose="020B0604020202020204" pitchFamily="34" charset="0"/>
            </a:endParaRPr>
          </a:p>
          <a:p>
            <a:pPr>
              <a:spcBef>
                <a:spcPct val="50000"/>
              </a:spcBef>
            </a:pPr>
            <a:endParaRPr lang="zh-CN" altLang="en-US" sz="2800" b="1" dirty="0">
              <a:latin typeface="Arial" panose="020B0604020202020204" pitchFamily="34" charset="0"/>
            </a:endParaRPr>
          </a:p>
          <a:p>
            <a:pPr>
              <a:spcBef>
                <a:spcPct val="50000"/>
              </a:spcBef>
            </a:pPr>
            <a:endParaRPr lang="zh-CN" altLang="en-US" sz="2800" b="1" dirty="0">
              <a:latin typeface="Arial" panose="020B0604020202020204" pitchFamily="34" charset="0"/>
            </a:endParaRPr>
          </a:p>
          <a:p>
            <a:pPr>
              <a:spcBef>
                <a:spcPct val="50000"/>
              </a:spcBef>
            </a:pPr>
            <a:endParaRPr lang="zh-CN" altLang="en-US" sz="2800" b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文本框 99"/>
          <p:cNvSpPr txBox="1"/>
          <p:nvPr/>
        </p:nvSpPr>
        <p:spPr>
          <a:xfrm>
            <a:off x="192088" y="185738"/>
            <a:ext cx="8602662" cy="22463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zh-CN" sz="2800" b="1" dirty="0">
                <a:latin typeface="Arial" panose="020B0604020202020204" pitchFamily="34" charset="0"/>
              </a:rPr>
              <a:t>三、实验探究题</a:t>
            </a:r>
            <a:endParaRPr lang="zh-CN" altLang="zh-CN" sz="2800" b="1" dirty="0">
              <a:latin typeface="Arial" panose="020B0604020202020204" pitchFamily="34" charset="0"/>
            </a:endParaRPr>
          </a:p>
          <a:p>
            <a:r>
              <a:rPr lang="zh-CN" altLang="zh-CN" sz="2800" b="1" dirty="0">
                <a:latin typeface="Arial" panose="020B0604020202020204" pitchFamily="34" charset="0"/>
              </a:rPr>
              <a:t>28．（</a:t>
            </a:r>
            <a:r>
              <a:rPr lang="en-US" altLang="zh-CN" sz="2800" b="1" dirty="0">
                <a:latin typeface="宋体" panose="02010600030101010101" pitchFamily="2" charset="-122"/>
              </a:rPr>
              <a:t>1</a:t>
            </a:r>
            <a:r>
              <a:rPr lang="zh-CN" altLang="zh-CN" sz="2800" b="1" dirty="0">
                <a:latin typeface="Arial" panose="020B0604020202020204" pitchFamily="34" charset="0"/>
              </a:rPr>
              <a:t>）物体的质量</a:t>
            </a:r>
            <a:r>
              <a:rPr lang="en-US" altLang="zh-CN" sz="2800" b="1" dirty="0">
                <a:latin typeface="宋体" panose="02010600030101010101" pitchFamily="2" charset="-122"/>
              </a:rPr>
              <a:t> </a:t>
            </a:r>
            <a:r>
              <a:rPr lang="zh-CN" altLang="zh-CN" sz="2800" b="1" dirty="0">
                <a:latin typeface="Arial" panose="020B0604020202020204" pitchFamily="34" charset="0"/>
              </a:rPr>
              <a:t>（</a:t>
            </a:r>
            <a:r>
              <a:rPr lang="en-US" altLang="zh-CN" sz="2800" b="1" dirty="0">
                <a:latin typeface="宋体" panose="02010600030101010101" pitchFamily="2" charset="-122"/>
              </a:rPr>
              <a:t>2</a:t>
            </a:r>
            <a:r>
              <a:rPr lang="zh-CN" altLang="zh-CN" sz="2800" b="1" dirty="0">
                <a:latin typeface="Arial" panose="020B0604020202020204" pitchFamily="34" charset="0"/>
              </a:rPr>
              <a:t>）排除实验偶然因素，使实验结果更可靠</a:t>
            </a:r>
            <a:r>
              <a:rPr lang="en-US" altLang="zh-CN" sz="2800" b="1" dirty="0">
                <a:latin typeface="宋体" panose="02010600030101010101" pitchFamily="2" charset="-122"/>
              </a:rPr>
              <a:t>    </a:t>
            </a:r>
            <a:r>
              <a:rPr lang="zh-CN" altLang="zh-CN" sz="2800" b="1" dirty="0">
                <a:latin typeface="Arial" panose="020B0604020202020204" pitchFamily="34" charset="0"/>
              </a:rPr>
              <a:t>（</a:t>
            </a:r>
            <a:r>
              <a:rPr lang="en-US" altLang="zh-CN" sz="2800" b="1" dirty="0">
                <a:latin typeface="宋体" panose="02010600030101010101" pitchFamily="2" charset="-122"/>
              </a:rPr>
              <a:t>3</a:t>
            </a:r>
            <a:r>
              <a:rPr lang="zh-CN" altLang="zh-CN" sz="2800" b="1" dirty="0">
                <a:latin typeface="Arial" panose="020B0604020202020204" pitchFamily="34" charset="0"/>
              </a:rPr>
              <a:t>）在体积和下落高度相同时，物体下落快慢与物体质量大小无关</a:t>
            </a:r>
            <a:endParaRPr lang="zh-CN" altLang="en-US" sz="2800" b="1" dirty="0">
              <a:latin typeface="Arial" panose="020B0604020202020204" pitchFamily="34" charset="0"/>
            </a:endParaRPr>
          </a:p>
          <a:p>
            <a:endParaRPr lang="zh-CN" altLang="en-US" sz="2800" b="1" dirty="0">
              <a:latin typeface="Arial" panose="020B0604020202020204" pitchFamily="34" charset="0"/>
            </a:endParaRPr>
          </a:p>
        </p:txBody>
      </p:sp>
      <p:sp>
        <p:nvSpPr>
          <p:cNvPr id="7171" name="文本框 100"/>
          <p:cNvSpPr txBox="1"/>
          <p:nvPr/>
        </p:nvSpPr>
        <p:spPr>
          <a:xfrm>
            <a:off x="2032000" y="3895725"/>
            <a:ext cx="508000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157480" indent="-157480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7172" name="文本框 9220"/>
          <p:cNvSpPr txBox="1"/>
          <p:nvPr/>
        </p:nvSpPr>
        <p:spPr>
          <a:xfrm>
            <a:off x="574675" y="2133600"/>
            <a:ext cx="8729663" cy="48307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Arial" panose="020B0604020202020204" pitchFamily="34" charset="0"/>
              </a:rPr>
              <a:t>【</a:t>
            </a:r>
            <a:r>
              <a:rPr lang="zh-CN" altLang="en-US" sz="2800" b="1" dirty="0">
                <a:solidFill>
                  <a:srgbClr val="FF0000"/>
                </a:solidFill>
                <a:latin typeface="Arial" panose="020B0604020202020204" pitchFamily="34" charset="0"/>
              </a:rPr>
              <a:t>错题情况及评分标准</a:t>
            </a:r>
            <a:r>
              <a:rPr lang="zh-CN" altLang="en-US" sz="2800" b="1" dirty="0">
                <a:latin typeface="Arial" panose="020B0604020202020204" pitchFamily="34" charset="0"/>
              </a:rPr>
              <a:t>】本题共</a:t>
            </a:r>
            <a:r>
              <a:rPr lang="en-US" altLang="zh-CN" sz="2800" b="1" dirty="0">
                <a:latin typeface="Arial" panose="020B0604020202020204" pitchFamily="34" charset="0"/>
              </a:rPr>
              <a:t>   6 </a:t>
            </a:r>
            <a:r>
              <a:rPr lang="zh-CN" altLang="en-US" sz="2800" b="1" dirty="0">
                <a:latin typeface="Arial" panose="020B0604020202020204" pitchFamily="34" charset="0"/>
              </a:rPr>
              <a:t>分，平均得分</a:t>
            </a:r>
            <a:r>
              <a:rPr lang="en-US" altLang="zh-CN" sz="2800" b="1" dirty="0">
                <a:latin typeface="Arial" panose="020B0604020202020204" pitchFamily="34" charset="0"/>
              </a:rPr>
              <a:t>    4.93</a:t>
            </a:r>
            <a:r>
              <a:rPr lang="zh-CN" altLang="en-US" sz="2800" b="1" dirty="0">
                <a:latin typeface="Arial" panose="020B0604020202020204" pitchFamily="34" charset="0"/>
              </a:rPr>
              <a:t>分</a:t>
            </a:r>
            <a:r>
              <a:rPr lang="en-US" altLang="zh-CN" sz="2800" b="1" dirty="0">
                <a:latin typeface="Arial" panose="020B0604020202020204" pitchFamily="34" charset="0"/>
              </a:rPr>
              <a:t>(1)</a:t>
            </a:r>
            <a:r>
              <a:rPr lang="zh-CN" altLang="zh-CN" sz="2800" b="1" dirty="0">
                <a:latin typeface="Arial" panose="020B0604020202020204" pitchFamily="34" charset="0"/>
              </a:rPr>
              <a:t>第一空得分率较高，但有学生错写成物体的重量、体积或大小。实际上本空格考察的是实验的变量，</a:t>
            </a:r>
            <a:r>
              <a:rPr lang="zh-CN" altLang="en-US" sz="2800" b="1" dirty="0">
                <a:latin typeface="Arial" panose="020B0604020202020204" pitchFamily="34" charset="0"/>
              </a:rPr>
              <a:t>把握探究目的即可。（</a:t>
            </a:r>
            <a:r>
              <a:rPr lang="en-US" altLang="zh-CN" sz="2800" b="1" dirty="0">
                <a:latin typeface="Arial" panose="020B0604020202020204" pitchFamily="34" charset="0"/>
              </a:rPr>
              <a:t>2</a:t>
            </a:r>
            <a:r>
              <a:rPr lang="zh-CN" altLang="en-US" sz="2800" b="1" dirty="0">
                <a:latin typeface="Arial" panose="020B0604020202020204" pitchFamily="34" charset="0"/>
              </a:rPr>
              <a:t>）评分标准：写出得出普遍规律或排除实验的偶然性的</a:t>
            </a:r>
            <a:r>
              <a:rPr lang="en-US" altLang="zh-CN" sz="2800" b="1" dirty="0">
                <a:latin typeface="Arial" panose="020B0604020202020204" pitchFamily="34" charset="0"/>
              </a:rPr>
              <a:t>2</a:t>
            </a:r>
            <a:r>
              <a:rPr lang="zh-CN" altLang="en-US" sz="2800" b="1" dirty="0">
                <a:latin typeface="Arial" panose="020B0604020202020204" pitchFamily="34" charset="0"/>
              </a:rPr>
              <a:t>分，写出减小误差或实验更可靠得</a:t>
            </a:r>
            <a:r>
              <a:rPr lang="en-US" altLang="zh-CN" sz="2800" b="1" dirty="0">
                <a:latin typeface="Arial" panose="020B0604020202020204" pitchFamily="34" charset="0"/>
              </a:rPr>
              <a:t>1</a:t>
            </a:r>
            <a:r>
              <a:rPr lang="zh-CN" altLang="en-US" sz="2800" b="1" dirty="0">
                <a:latin typeface="Arial" panose="020B0604020202020204" pitchFamily="34" charset="0"/>
              </a:rPr>
              <a:t>分.多次的实验的作用都写，按减小误差这个答案给分</a:t>
            </a:r>
            <a:r>
              <a:rPr lang="en-US" altLang="zh-CN" sz="2800" b="1" dirty="0">
                <a:latin typeface="Arial" panose="020B0604020202020204" pitchFamily="34" charset="0"/>
              </a:rPr>
              <a:t>1</a:t>
            </a:r>
            <a:r>
              <a:rPr lang="zh-CN" altLang="en-US" sz="2800" b="1" dirty="0">
                <a:latin typeface="Arial" panose="020B0604020202020204" pitchFamily="34" charset="0"/>
              </a:rPr>
              <a:t>分。（</a:t>
            </a:r>
            <a:r>
              <a:rPr lang="en-US" altLang="zh-CN" sz="2800" b="1" dirty="0">
                <a:latin typeface="Arial" panose="020B0604020202020204" pitchFamily="34" charset="0"/>
              </a:rPr>
              <a:t>2</a:t>
            </a:r>
            <a:r>
              <a:rPr lang="zh-CN" altLang="en-US" sz="2800" b="1" dirty="0">
                <a:latin typeface="Arial" panose="020B0604020202020204" pitchFamily="34" charset="0"/>
              </a:rPr>
              <a:t>）写出物体下落快慢与物体质量无关给</a:t>
            </a:r>
            <a:r>
              <a:rPr lang="en-US" altLang="zh-CN" sz="2800" b="1" dirty="0">
                <a:latin typeface="Arial" panose="020B0604020202020204" pitchFamily="34" charset="0"/>
              </a:rPr>
              <a:t>2</a:t>
            </a:r>
            <a:r>
              <a:rPr lang="zh-CN" altLang="en-US" sz="2800" b="1" dirty="0">
                <a:latin typeface="Arial" panose="020B0604020202020204" pitchFamily="34" charset="0"/>
              </a:rPr>
              <a:t>分。写出物体下落时间都一样，与物体质量无关，给</a:t>
            </a:r>
            <a:r>
              <a:rPr lang="en-US" altLang="zh-CN" sz="2800" b="1" dirty="0">
                <a:latin typeface="Arial" panose="020B0604020202020204" pitchFamily="34" charset="0"/>
              </a:rPr>
              <a:t>1</a:t>
            </a:r>
            <a:r>
              <a:rPr lang="zh-CN" altLang="en-US" sz="2800" b="1" dirty="0">
                <a:latin typeface="Arial" panose="020B0604020202020204" pitchFamily="34" charset="0"/>
              </a:rPr>
              <a:t>分，因为这是实验结果。写出物体质量与</a:t>
            </a:r>
            <a:r>
              <a:rPr lang="zh-CN" altLang="en-US" sz="2800" b="1" dirty="0">
                <a:latin typeface="Arial" panose="020B0604020202020204" pitchFamily="34" charset="0"/>
                <a:sym typeface="宋体" panose="02010600030101010101" pitchFamily="2" charset="-122"/>
              </a:rPr>
              <a:t>下落快慢无关，即研究对象和影响研究对象的因素弄反了，不给分。</a:t>
            </a:r>
            <a:endParaRPr lang="zh-CN" altLang="en-US" sz="2800" b="1" dirty="0">
              <a:latin typeface="Arial" panose="020B0604020202020204" pitchFamily="34" charset="0"/>
              <a:sym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4" name="文本框 100"/>
          <p:cNvSpPr txBox="1"/>
          <p:nvPr/>
        </p:nvSpPr>
        <p:spPr>
          <a:xfrm>
            <a:off x="322263" y="222250"/>
            <a:ext cx="8439150" cy="9540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157480" indent="-157480"/>
            <a:r>
              <a:rPr lang="en-US" altLang="zh-CN" sz="2800" b="1" dirty="0">
                <a:latin typeface="宋体" panose="02010600030101010101" pitchFamily="2" charset="-122"/>
              </a:rPr>
              <a:t>29.</a:t>
            </a:r>
            <a:r>
              <a:rPr lang="zh-CN" altLang="zh-CN" sz="2800" b="1" dirty="0">
                <a:latin typeface="Arial" panose="020B0604020202020204" pitchFamily="34" charset="0"/>
              </a:rPr>
              <a:t>（1）</a:t>
            </a:r>
            <a:r>
              <a:rPr lang="en-US" altLang="zh-CN" sz="2800" b="1" dirty="0">
                <a:latin typeface="宋体" panose="02010600030101010101" pitchFamily="2" charset="-122"/>
              </a:rPr>
              <a:t>③①②④  </a:t>
            </a:r>
            <a:r>
              <a:rPr lang="zh-CN" altLang="zh-CN" sz="2800" b="1" dirty="0">
                <a:latin typeface="Arial" panose="020B0604020202020204" pitchFamily="34" charset="0"/>
              </a:rPr>
              <a:t>（2）B  （3）</a:t>
            </a:r>
            <a:endParaRPr lang="zh-CN" altLang="zh-CN" sz="2800" b="1" dirty="0">
              <a:latin typeface="Arial" panose="020B0604020202020204" pitchFamily="34" charset="0"/>
            </a:endParaRPr>
          </a:p>
          <a:p>
            <a:pPr marL="157480" indent="-157480"/>
            <a:endParaRPr lang="en-US" altLang="zh-CN" sz="2800" b="1" dirty="0">
              <a:latin typeface="宋体" panose="02010600030101010101" pitchFamily="2" charset="-122"/>
            </a:endParaRPr>
          </a:p>
        </p:txBody>
      </p:sp>
      <p:pic>
        <p:nvPicPr>
          <p:cNvPr id="8195" name="图片 1"/>
          <p:cNvPicPr/>
          <p:nvPr/>
        </p:nvPicPr>
        <p:blipFill>
          <a:blip r:embed="rId1"/>
          <a:srcRect l="8180" t="18704" b="5374"/>
          <a:stretch>
            <a:fillRect/>
          </a:stretch>
        </p:blipFill>
        <p:spPr>
          <a:xfrm>
            <a:off x="6021388" y="52388"/>
            <a:ext cx="1176337" cy="14001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196" name="文本框 2"/>
          <p:cNvSpPr txBox="1"/>
          <p:nvPr/>
        </p:nvSpPr>
        <p:spPr>
          <a:xfrm>
            <a:off x="179388" y="1928813"/>
            <a:ext cx="8785225" cy="39687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Arial" panose="020B0604020202020204" pitchFamily="34" charset="0"/>
              </a:rPr>
              <a:t>【</a:t>
            </a:r>
            <a:r>
              <a:rPr lang="zh-CN" altLang="en-US" sz="2800" b="1" dirty="0">
                <a:solidFill>
                  <a:srgbClr val="FF0000"/>
                </a:solidFill>
                <a:latin typeface="Arial" panose="020B0604020202020204" pitchFamily="34" charset="0"/>
              </a:rPr>
              <a:t>错题情况及评分标准</a:t>
            </a:r>
            <a:r>
              <a:rPr lang="zh-CN" altLang="en-US" sz="2800" b="1" dirty="0">
                <a:latin typeface="Arial" panose="020B0604020202020204" pitchFamily="34" charset="0"/>
              </a:rPr>
              <a:t>】</a:t>
            </a:r>
            <a:br>
              <a:rPr lang="zh-CN" altLang="en-US" sz="2800" b="1" dirty="0">
                <a:latin typeface="Arial" panose="020B0604020202020204" pitchFamily="34" charset="0"/>
              </a:rPr>
            </a:br>
            <a:r>
              <a:rPr lang="zh-CN" altLang="en-US" sz="2800" b="1" dirty="0">
                <a:latin typeface="Arial" panose="020B0604020202020204" pitchFamily="34" charset="0"/>
              </a:rPr>
              <a:t>本题共</a:t>
            </a:r>
            <a:r>
              <a:rPr lang="en-US" altLang="zh-CN" sz="2800" b="1" dirty="0">
                <a:latin typeface="Arial" panose="020B0604020202020204" pitchFamily="34" charset="0"/>
              </a:rPr>
              <a:t>6</a:t>
            </a:r>
            <a:r>
              <a:rPr lang="zh-CN" altLang="en-US" sz="2800" b="1" dirty="0">
                <a:latin typeface="Arial" panose="020B0604020202020204" pitchFamily="34" charset="0"/>
              </a:rPr>
              <a:t>分，平均得分</a:t>
            </a:r>
            <a:r>
              <a:rPr lang="en-US" altLang="zh-CN" sz="2800" b="1" dirty="0">
                <a:latin typeface="Arial" panose="020B0604020202020204" pitchFamily="34" charset="0"/>
              </a:rPr>
              <a:t>5.0</a:t>
            </a:r>
            <a:r>
              <a:rPr lang="zh-CN" altLang="en-US" sz="2800" b="1" dirty="0">
                <a:latin typeface="Arial" panose="020B0604020202020204" pitchFamily="34" charset="0"/>
              </a:rPr>
              <a:t>分</a:t>
            </a:r>
            <a:br>
              <a:rPr lang="zh-CN" altLang="en-US" sz="2800" b="1" dirty="0">
                <a:latin typeface="Arial" panose="020B0604020202020204" pitchFamily="34" charset="0"/>
              </a:rPr>
            </a:br>
            <a:r>
              <a:rPr lang="zh-CN" altLang="en-US" sz="2800" b="1" dirty="0">
                <a:latin typeface="Arial" panose="020B0604020202020204" pitchFamily="34" charset="0"/>
              </a:rPr>
              <a:t>第</a:t>
            </a:r>
            <a:r>
              <a:rPr lang="en-US" altLang="zh-CN" sz="2800" b="1" dirty="0">
                <a:latin typeface="Arial" panose="020B0604020202020204" pitchFamily="34" charset="0"/>
              </a:rPr>
              <a:t>1</a:t>
            </a:r>
            <a:r>
              <a:rPr lang="zh-CN" altLang="en-US" sz="2800" b="1" dirty="0">
                <a:latin typeface="Arial" panose="020B0604020202020204" pitchFamily="34" charset="0"/>
              </a:rPr>
              <a:t>小题排序错误率较高，该题第</a:t>
            </a:r>
            <a:r>
              <a:rPr lang="en-US" altLang="zh-CN" sz="2800" b="1" dirty="0">
                <a:latin typeface="Arial" panose="020B0604020202020204" pitchFamily="34" charset="0"/>
              </a:rPr>
              <a:t>2</a:t>
            </a:r>
            <a:r>
              <a:rPr lang="zh-CN" altLang="en-US" sz="2800" b="1" dirty="0">
                <a:latin typeface="Arial" panose="020B0604020202020204" pitchFamily="34" charset="0"/>
              </a:rPr>
              <a:t>章单元测试刚考过，部分学生对显微镜的操作步骤顺序还是没有掌握好。</a:t>
            </a:r>
            <a:endParaRPr lang="zh-CN" altLang="en-US" sz="2800" b="1" dirty="0">
              <a:latin typeface="Arial" panose="020B0604020202020204" pitchFamily="34" charset="0"/>
            </a:endParaRPr>
          </a:p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Arial" panose="020B0604020202020204" pitchFamily="34" charset="0"/>
              </a:rPr>
              <a:t>第</a:t>
            </a:r>
            <a:r>
              <a:rPr lang="en-US" altLang="zh-CN" sz="2800" b="1" dirty="0">
                <a:latin typeface="Arial" panose="020B0604020202020204" pitchFamily="34" charset="0"/>
              </a:rPr>
              <a:t>2</a:t>
            </a:r>
            <a:r>
              <a:rPr lang="zh-CN" altLang="en-US" sz="2800" b="1" dirty="0">
                <a:latin typeface="Arial" panose="020B0604020202020204" pitchFamily="34" charset="0"/>
              </a:rPr>
              <a:t>小题得分很高。</a:t>
            </a:r>
            <a:endParaRPr lang="zh-CN" altLang="en-US" sz="2800" b="1" dirty="0">
              <a:latin typeface="Arial" panose="020B0604020202020204" pitchFamily="34" charset="0"/>
            </a:endParaRPr>
          </a:p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Arial" panose="020B0604020202020204" pitchFamily="34" charset="0"/>
              </a:rPr>
              <a:t>第</a:t>
            </a:r>
            <a:r>
              <a:rPr lang="en-US" altLang="zh-CN" sz="2800" b="1" dirty="0">
                <a:latin typeface="Arial" panose="020B0604020202020204" pitchFamily="34" charset="0"/>
              </a:rPr>
              <a:t>3</a:t>
            </a:r>
            <a:r>
              <a:rPr lang="zh-CN" altLang="en-US" sz="2800" b="1" dirty="0">
                <a:latin typeface="Arial" panose="020B0604020202020204" pitchFamily="34" charset="0"/>
              </a:rPr>
              <a:t>小题错误率也较高，</a:t>
            </a:r>
            <a:r>
              <a:rPr lang="zh-CN" altLang="zh-CN" sz="2800" b="1" dirty="0">
                <a:latin typeface="Arial" panose="020B0604020202020204" pitchFamily="34" charset="0"/>
              </a:rPr>
              <a:t>叶绿体的运动轨迹画成顺时针了</a:t>
            </a:r>
            <a:r>
              <a:rPr lang="zh-CN" altLang="en-US" sz="2800" b="1" dirty="0">
                <a:latin typeface="Arial" panose="020B0604020202020204" pitchFamily="34" charset="0"/>
              </a:rPr>
              <a:t>，或叶绿体的位置标错了，还有个别同学漏标了叶绿体。</a:t>
            </a:r>
            <a:endParaRPr lang="zh-CN" altLang="en-US" sz="2800" b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8" name="文本框 100"/>
          <p:cNvSpPr txBox="1"/>
          <p:nvPr/>
        </p:nvSpPr>
        <p:spPr>
          <a:xfrm>
            <a:off x="236538" y="120650"/>
            <a:ext cx="8542337" cy="18145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157480" indent="-157480"/>
            <a:r>
              <a:rPr lang="en-US" altLang="zh-CN" sz="2800" b="1" dirty="0">
                <a:latin typeface="宋体" panose="02010600030101010101" pitchFamily="2" charset="-122"/>
              </a:rPr>
              <a:t>30.（1）与环境温度有关（2）每组光照时间相同    </a:t>
            </a:r>
            <a:endParaRPr lang="en-US" altLang="zh-CN" sz="2800" b="1" dirty="0">
              <a:latin typeface="宋体" panose="02010600030101010101" pitchFamily="2" charset="-122"/>
            </a:endParaRPr>
          </a:p>
          <a:p>
            <a:pPr marL="157480" indent="-157480"/>
            <a:r>
              <a:rPr lang="en-US" altLang="zh-CN" sz="2800" b="1" dirty="0">
                <a:latin typeface="宋体" panose="02010600030101010101" pitchFamily="2" charset="-122"/>
              </a:rPr>
              <a:t>（3）光照时间相同时，在19℃~31℃范围内，伊蚊的吸血率随着温度的升高先增大后减小，25℃时吸血率最大 </a:t>
            </a:r>
            <a:endParaRPr lang="en-US" altLang="zh-CN" sz="2800" b="1" dirty="0">
              <a:latin typeface="宋体" panose="02010600030101010101" pitchFamily="2" charset="-122"/>
            </a:endParaRPr>
          </a:p>
        </p:txBody>
      </p:sp>
      <p:sp>
        <p:nvSpPr>
          <p:cNvPr id="9219" name="文本框 2"/>
          <p:cNvSpPr txBox="1"/>
          <p:nvPr/>
        </p:nvSpPr>
        <p:spPr>
          <a:xfrm>
            <a:off x="304800" y="1935163"/>
            <a:ext cx="8682038" cy="48926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Arial" panose="020B0604020202020204" pitchFamily="34" charset="0"/>
              </a:rPr>
              <a:t>【</a:t>
            </a:r>
            <a:r>
              <a:rPr lang="zh-CN" altLang="en-US" sz="2400" b="1" dirty="0">
                <a:solidFill>
                  <a:srgbClr val="FF0000"/>
                </a:solidFill>
                <a:latin typeface="Arial" panose="020B0604020202020204" pitchFamily="34" charset="0"/>
              </a:rPr>
              <a:t>错题情况及评分标准</a:t>
            </a:r>
            <a:r>
              <a:rPr lang="zh-CN" altLang="en-US" sz="2400" b="1" dirty="0">
                <a:latin typeface="Arial" panose="020B0604020202020204" pitchFamily="34" charset="0"/>
              </a:rPr>
              <a:t>】</a:t>
            </a:r>
            <a:br>
              <a:rPr lang="zh-CN" altLang="en-US" sz="2400" b="1" dirty="0">
                <a:latin typeface="Arial" panose="020B0604020202020204" pitchFamily="34" charset="0"/>
              </a:rPr>
            </a:br>
            <a:r>
              <a:rPr lang="zh-CN" altLang="en-US" sz="2400" b="1" dirty="0">
                <a:latin typeface="Arial" panose="020B0604020202020204" pitchFamily="34" charset="0"/>
              </a:rPr>
              <a:t>本题共</a:t>
            </a:r>
            <a:r>
              <a:rPr lang="en-US" altLang="zh-CN" sz="2400" b="1" dirty="0">
                <a:latin typeface="Arial" panose="020B0604020202020204" pitchFamily="34" charset="0"/>
              </a:rPr>
              <a:t>6</a:t>
            </a:r>
            <a:r>
              <a:rPr lang="zh-CN" altLang="en-US" sz="2400" b="1" dirty="0">
                <a:latin typeface="Arial" panose="020B0604020202020204" pitchFamily="34" charset="0"/>
              </a:rPr>
              <a:t>分，平均得分</a:t>
            </a:r>
            <a:r>
              <a:rPr lang="en-US" altLang="zh-CN" sz="2400" b="1" dirty="0">
                <a:latin typeface="Arial" panose="020B0604020202020204" pitchFamily="34" charset="0"/>
              </a:rPr>
              <a:t>4.13</a:t>
            </a:r>
            <a:r>
              <a:rPr lang="zh-CN" altLang="en-US" sz="2400" b="1" dirty="0">
                <a:latin typeface="Arial" panose="020B0604020202020204" pitchFamily="34" charset="0"/>
              </a:rPr>
              <a:t>分</a:t>
            </a:r>
            <a:br>
              <a:rPr lang="zh-CN" altLang="en-US" sz="2400" b="1" dirty="0">
                <a:latin typeface="Arial" panose="020B0604020202020204" pitchFamily="34" charset="0"/>
              </a:rPr>
            </a:br>
            <a:r>
              <a:rPr lang="zh-CN" altLang="en-US" sz="2400" b="1" dirty="0">
                <a:latin typeface="Arial" panose="020B0604020202020204" pitchFamily="34" charset="0"/>
              </a:rPr>
              <a:t>第</a:t>
            </a:r>
            <a:r>
              <a:rPr lang="en-US" altLang="zh-CN" sz="2400" b="1" dirty="0">
                <a:latin typeface="Arial" panose="020B0604020202020204" pitchFamily="34" charset="0"/>
              </a:rPr>
              <a:t>1</a:t>
            </a:r>
            <a:r>
              <a:rPr lang="zh-CN" altLang="en-US" sz="2400" b="1" dirty="0">
                <a:latin typeface="Arial" panose="020B0604020202020204" pitchFamily="34" charset="0"/>
              </a:rPr>
              <a:t>小题</a:t>
            </a:r>
            <a:r>
              <a:rPr lang="zh-CN" altLang="zh-CN" sz="2400" b="1" dirty="0">
                <a:latin typeface="Arial" panose="020B0604020202020204" pitchFamily="34" charset="0"/>
              </a:rPr>
              <a:t>基本都对的</a:t>
            </a:r>
            <a:r>
              <a:rPr lang="zh-CN" altLang="en-US" sz="2400" b="1" dirty="0">
                <a:latin typeface="Arial" panose="020B0604020202020204" pitchFamily="34" charset="0"/>
              </a:rPr>
              <a:t>；</a:t>
            </a:r>
            <a:br>
              <a:rPr lang="zh-CN" altLang="en-US" sz="2400" b="1" dirty="0">
                <a:latin typeface="Arial" panose="020B0604020202020204" pitchFamily="34" charset="0"/>
              </a:rPr>
            </a:br>
            <a:r>
              <a:rPr lang="zh-CN" altLang="en-US" sz="2400" b="1" dirty="0">
                <a:latin typeface="Arial" panose="020B0604020202020204" pitchFamily="34" charset="0"/>
                <a:sym typeface="宋体" panose="02010600030101010101" pitchFamily="2" charset="-122"/>
              </a:rPr>
              <a:t>第</a:t>
            </a:r>
            <a:r>
              <a:rPr lang="en-US" altLang="zh-CN" sz="2400" b="1" dirty="0">
                <a:latin typeface="Arial" panose="020B0604020202020204" pitchFamily="34" charset="0"/>
                <a:sym typeface="宋体" panose="02010600030101010101" pitchFamily="2" charset="-122"/>
              </a:rPr>
              <a:t>2</a:t>
            </a:r>
            <a:r>
              <a:rPr lang="zh-CN" altLang="en-US" sz="2400" b="1" dirty="0">
                <a:latin typeface="Arial" panose="020B0604020202020204" pitchFamily="34" charset="0"/>
                <a:sym typeface="宋体" panose="02010600030101010101" pitchFamily="2" charset="-122"/>
              </a:rPr>
              <a:t>小题</a:t>
            </a:r>
            <a:r>
              <a:rPr lang="zh-CN" altLang="en-US" sz="2400" b="1" dirty="0">
                <a:latin typeface="Arial" panose="020B0604020202020204" pitchFamily="34" charset="0"/>
              </a:rPr>
              <a:t>错误率</a:t>
            </a:r>
            <a:r>
              <a:rPr lang="zh-CN" altLang="en-US" sz="2400" b="1" dirty="0">
                <a:latin typeface="Arial" panose="020B0604020202020204" pitchFamily="34" charset="0"/>
                <a:sym typeface="宋体" panose="02010600030101010101" pitchFamily="2" charset="-122"/>
              </a:rPr>
              <a:t>很高，不会从表格中获取影响伊蚊吸血率的</a:t>
            </a:r>
            <a:r>
              <a:rPr lang="en-US" altLang="zh-CN" sz="2400" b="1" dirty="0">
                <a:latin typeface="Arial" panose="020B0604020202020204" pitchFamily="34" charset="0"/>
                <a:sym typeface="宋体" panose="02010600030101010101" pitchFamily="2" charset="-122"/>
              </a:rPr>
              <a:t>“</a:t>
            </a:r>
            <a:r>
              <a:rPr lang="zh-CN" altLang="en-US" sz="2400" b="1" dirty="0">
                <a:latin typeface="Arial" panose="020B0604020202020204" pitchFamily="34" charset="0"/>
                <a:sym typeface="宋体" panose="02010600030101010101" pitchFamily="2" charset="-122"/>
              </a:rPr>
              <a:t>光照时间的长短</a:t>
            </a:r>
            <a:r>
              <a:rPr lang="en-US" altLang="zh-CN" sz="2400" b="1" dirty="0">
                <a:latin typeface="Arial" panose="020B0604020202020204" pitchFamily="34" charset="0"/>
                <a:sym typeface="宋体" panose="02010600030101010101" pitchFamily="2" charset="-122"/>
              </a:rPr>
              <a:t>”</a:t>
            </a:r>
            <a:r>
              <a:rPr lang="zh-CN" altLang="en-US" sz="2400" b="1" dirty="0">
                <a:latin typeface="Arial" panose="020B0604020202020204" pitchFamily="34" charset="0"/>
                <a:sym typeface="宋体" panose="02010600030101010101" pitchFamily="2" charset="-122"/>
              </a:rPr>
              <a:t>这一无关变量。</a:t>
            </a:r>
            <a:br>
              <a:rPr lang="zh-CN" altLang="en-US" sz="2400" b="1" dirty="0">
                <a:latin typeface="Arial" panose="020B0604020202020204" pitchFamily="34" charset="0"/>
                <a:sym typeface="宋体" panose="02010600030101010101" pitchFamily="2" charset="-122"/>
              </a:rPr>
            </a:br>
            <a:r>
              <a:rPr lang="zh-CN" altLang="en-US" sz="2400" b="1" dirty="0">
                <a:latin typeface="Arial" panose="020B0604020202020204" pitchFamily="34" charset="0"/>
                <a:sym typeface="宋体" panose="02010600030101010101" pitchFamily="2" charset="-122"/>
              </a:rPr>
              <a:t>评分标准：光照时间相同、光照相同、亮度相同、放入时间相同等都满分；写出放置在同一位置或同一环境给</a:t>
            </a:r>
            <a:r>
              <a:rPr lang="en-US" altLang="zh-CN" sz="2400" b="1" dirty="0">
                <a:latin typeface="Arial" panose="020B0604020202020204" pitchFamily="34" charset="0"/>
                <a:sym typeface="宋体" panose="02010600030101010101" pitchFamily="2" charset="-122"/>
              </a:rPr>
              <a:t>1</a:t>
            </a:r>
            <a:r>
              <a:rPr lang="zh-CN" altLang="en-US" sz="2400" b="1" dirty="0">
                <a:latin typeface="Arial" panose="020B0604020202020204" pitchFamily="34" charset="0"/>
                <a:sym typeface="宋体" panose="02010600030101010101" pitchFamily="2" charset="-122"/>
              </a:rPr>
              <a:t>分；写除了温度外其他条件都相同没有具体指出都不得分；写容器要透明也没给分。</a:t>
            </a:r>
            <a:br>
              <a:rPr lang="zh-CN" altLang="en-US" sz="2400" b="1" dirty="0">
                <a:latin typeface="Arial" panose="020B0604020202020204" pitchFamily="34" charset="0"/>
                <a:sym typeface="宋体" panose="02010600030101010101" pitchFamily="2" charset="-122"/>
              </a:rPr>
            </a:br>
            <a:r>
              <a:rPr lang="zh-CN" altLang="en-US" sz="2400" b="1" dirty="0">
                <a:latin typeface="Arial" panose="020B0604020202020204" pitchFamily="34" charset="0"/>
              </a:rPr>
              <a:t>第</a:t>
            </a:r>
            <a:r>
              <a:rPr lang="en-US" altLang="zh-CN" sz="2400" b="1" dirty="0">
                <a:latin typeface="Arial" panose="020B0604020202020204" pitchFamily="34" charset="0"/>
              </a:rPr>
              <a:t>3</a:t>
            </a:r>
            <a:r>
              <a:rPr lang="zh-CN" altLang="en-US" sz="2400" b="1" dirty="0">
                <a:latin typeface="Arial" panose="020B0604020202020204" pitchFamily="34" charset="0"/>
              </a:rPr>
              <a:t>小题错误率也很高，前提条件</a:t>
            </a:r>
            <a:r>
              <a:rPr lang="en-US" altLang="zh-CN" sz="2400" b="1" dirty="0">
                <a:latin typeface="Arial" panose="020B0604020202020204" pitchFamily="34" charset="0"/>
              </a:rPr>
              <a:t>“</a:t>
            </a:r>
            <a:r>
              <a:rPr lang="zh-CN" altLang="en-US" sz="2400" b="1" dirty="0">
                <a:latin typeface="Arial" panose="020B0604020202020204" pitchFamily="34" charset="0"/>
              </a:rPr>
              <a:t>光照时间相同和在一定温度范围内</a:t>
            </a:r>
            <a:r>
              <a:rPr lang="en-US" altLang="zh-CN" sz="2400" b="1" dirty="0">
                <a:latin typeface="Arial" panose="020B0604020202020204" pitchFamily="34" charset="0"/>
              </a:rPr>
              <a:t>”</a:t>
            </a:r>
            <a:r>
              <a:rPr lang="zh-CN" altLang="en-US" sz="2400" b="1" dirty="0">
                <a:latin typeface="Arial" panose="020B0604020202020204" pitchFamily="34" charset="0"/>
              </a:rPr>
              <a:t>写出一点就给</a:t>
            </a:r>
            <a:r>
              <a:rPr lang="en-US" altLang="zh-CN" sz="2400" b="1" dirty="0">
                <a:latin typeface="Arial" panose="020B0604020202020204" pitchFamily="34" charset="0"/>
              </a:rPr>
              <a:t>1</a:t>
            </a:r>
            <a:r>
              <a:rPr lang="zh-CN" altLang="en-US" sz="2400" b="1" dirty="0">
                <a:latin typeface="Arial" panose="020B0604020202020204" pitchFamily="34" charset="0"/>
              </a:rPr>
              <a:t>分，写全的很少，很多学生根本就没有写出前提条件；结论写吸血率随温度的升高而增大的很多（不得分）。</a:t>
            </a:r>
            <a:endParaRPr lang="zh-CN" altLang="en-US" sz="2400" b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2" name="文本框 100"/>
          <p:cNvSpPr txBox="1"/>
          <p:nvPr/>
        </p:nvSpPr>
        <p:spPr>
          <a:xfrm>
            <a:off x="107950" y="157163"/>
            <a:ext cx="8912225" cy="26765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zh-CN" sz="2800" b="1" dirty="0">
                <a:latin typeface="Arial" panose="020B0604020202020204" pitchFamily="34" charset="0"/>
              </a:rPr>
              <a:t>四、解答题</a:t>
            </a:r>
            <a:endParaRPr lang="zh-CN" altLang="zh-CN" sz="2800" b="1" dirty="0">
              <a:latin typeface="Arial" panose="020B0604020202020204" pitchFamily="34" charset="0"/>
            </a:endParaRPr>
          </a:p>
          <a:p>
            <a:r>
              <a:rPr lang="zh-CN" altLang="zh-CN" sz="2800" b="1" dirty="0">
                <a:latin typeface="Arial" panose="020B0604020202020204" pitchFamily="34" charset="0"/>
              </a:rPr>
              <a:t>31.（1）瓶内气体的热胀冷缩（</a:t>
            </a:r>
            <a:r>
              <a:rPr lang="en-US" altLang="zh-CN" sz="2800" b="1" dirty="0">
                <a:latin typeface="Arial" panose="020B0604020202020204" pitchFamily="34" charset="0"/>
              </a:rPr>
              <a:t>2</a:t>
            </a:r>
            <a:r>
              <a:rPr lang="zh-CN" altLang="en-US" sz="2800" b="1" dirty="0">
                <a:latin typeface="Arial" panose="020B0604020202020204" pitchFamily="34" charset="0"/>
              </a:rPr>
              <a:t>分</a:t>
            </a:r>
            <a:r>
              <a:rPr lang="zh-CN" altLang="zh-CN" sz="2800" b="1" dirty="0">
                <a:latin typeface="Arial" panose="020B0604020202020204" pitchFamily="34" charset="0"/>
              </a:rPr>
              <a:t>）</a:t>
            </a:r>
            <a:endParaRPr lang="zh-CN" altLang="zh-CN" sz="2800" b="1" dirty="0">
              <a:latin typeface="Arial" panose="020B0604020202020204" pitchFamily="34" charset="0"/>
            </a:endParaRPr>
          </a:p>
          <a:p>
            <a:r>
              <a:rPr lang="zh-CN" altLang="zh-CN" sz="2800" b="1" dirty="0">
                <a:latin typeface="Arial" panose="020B0604020202020204" pitchFamily="34" charset="0"/>
              </a:rPr>
              <a:t>（2）不能（</a:t>
            </a:r>
            <a:r>
              <a:rPr lang="en-US" altLang="zh-CN" sz="2800" b="1" dirty="0">
                <a:latin typeface="Arial" panose="020B0604020202020204" pitchFamily="34" charset="0"/>
              </a:rPr>
              <a:t>1</a:t>
            </a:r>
            <a:r>
              <a:rPr lang="zh-CN" altLang="en-US" sz="2800" b="1" dirty="0">
                <a:latin typeface="Arial" panose="020B0604020202020204" pitchFamily="34" charset="0"/>
              </a:rPr>
              <a:t>分）</a:t>
            </a:r>
            <a:r>
              <a:rPr lang="zh-CN" altLang="zh-CN" sz="2800" b="1" dirty="0">
                <a:latin typeface="Arial" panose="020B0604020202020204" pitchFamily="34" charset="0"/>
              </a:rPr>
              <a:t>；温度每升高 2℃，液柱下降 5.2cm 之多，而在 27℃时液柱总长已经小于 5.2cm（</a:t>
            </a:r>
            <a:r>
              <a:rPr lang="en-US" altLang="zh-CN" sz="2800" b="1" dirty="0">
                <a:latin typeface="Arial" panose="020B0604020202020204" pitchFamily="34" charset="0"/>
              </a:rPr>
              <a:t>1</a:t>
            </a:r>
            <a:r>
              <a:rPr lang="zh-CN" altLang="en-US" sz="2800" b="1" dirty="0">
                <a:latin typeface="Arial" panose="020B0604020202020204" pitchFamily="34" charset="0"/>
              </a:rPr>
              <a:t>分）</a:t>
            </a:r>
            <a:endParaRPr lang="zh-CN" altLang="zh-CN" sz="2800" b="1" dirty="0">
              <a:latin typeface="Arial" panose="020B0604020202020204" pitchFamily="34" charset="0"/>
            </a:endParaRPr>
          </a:p>
          <a:p>
            <a:r>
              <a:rPr lang="zh-CN" altLang="zh-CN" sz="2800" b="1" dirty="0">
                <a:latin typeface="Arial" panose="020B0604020202020204" pitchFamily="34" charset="0"/>
              </a:rPr>
              <a:t>（3）封闭管口、管径变细、水面加油层，水换成油（答出一条即可）（</a:t>
            </a:r>
            <a:r>
              <a:rPr lang="en-US" altLang="zh-CN" sz="2800" b="1" dirty="0">
                <a:latin typeface="Arial" panose="020B0604020202020204" pitchFamily="34" charset="0"/>
              </a:rPr>
              <a:t>2</a:t>
            </a:r>
            <a:r>
              <a:rPr lang="zh-CN" altLang="en-US" sz="2800" b="1" dirty="0">
                <a:latin typeface="Arial" panose="020B0604020202020204" pitchFamily="34" charset="0"/>
              </a:rPr>
              <a:t>分）</a:t>
            </a:r>
            <a:endParaRPr lang="zh-CN" altLang="en-US" sz="2800" b="1" dirty="0">
              <a:latin typeface="Arial" panose="020B0604020202020204" pitchFamily="34" charset="0"/>
            </a:endParaRPr>
          </a:p>
        </p:txBody>
      </p:sp>
      <p:sp>
        <p:nvSpPr>
          <p:cNvPr id="10243" name="文本框 9220"/>
          <p:cNvSpPr txBox="1"/>
          <p:nvPr/>
        </p:nvSpPr>
        <p:spPr>
          <a:xfrm>
            <a:off x="177800" y="2833688"/>
            <a:ext cx="8842375" cy="4400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800" b="1" dirty="0">
                <a:latin typeface="Arial" panose="020B0604020202020204" pitchFamily="34" charset="0"/>
              </a:rPr>
              <a:t>【</a:t>
            </a:r>
            <a:r>
              <a:rPr lang="zh-CN" altLang="en-US" sz="2800" b="1" dirty="0">
                <a:solidFill>
                  <a:srgbClr val="FF0000"/>
                </a:solidFill>
                <a:latin typeface="Arial" panose="020B0604020202020204" pitchFamily="34" charset="0"/>
              </a:rPr>
              <a:t>错题情况及评分标准</a:t>
            </a:r>
            <a:r>
              <a:rPr lang="zh-CN" altLang="en-US" sz="2800" b="1" dirty="0">
                <a:latin typeface="Arial" panose="020B0604020202020204" pitchFamily="34" charset="0"/>
              </a:rPr>
              <a:t>】本题共</a:t>
            </a:r>
            <a:r>
              <a:rPr lang="en-US" altLang="zh-CN" sz="2800" b="1" dirty="0">
                <a:latin typeface="Arial" panose="020B0604020202020204" pitchFamily="34" charset="0"/>
              </a:rPr>
              <a:t>6</a:t>
            </a:r>
            <a:r>
              <a:rPr lang="zh-CN" altLang="en-US" sz="2800" b="1" dirty="0">
                <a:latin typeface="Arial" panose="020B0604020202020204" pitchFamily="34" charset="0"/>
              </a:rPr>
              <a:t>分，平均得分</a:t>
            </a:r>
            <a:r>
              <a:rPr lang="en-US" altLang="zh-CN" sz="2800" b="1" dirty="0">
                <a:solidFill>
                  <a:srgbClr val="FF0000"/>
                </a:solidFill>
                <a:latin typeface="Arial" panose="020B0604020202020204" pitchFamily="34" charset="0"/>
              </a:rPr>
              <a:t>3.58</a:t>
            </a:r>
            <a:r>
              <a:rPr lang="zh-CN" altLang="en-US" sz="2800" b="1" dirty="0">
                <a:latin typeface="Arial" panose="020B0604020202020204" pitchFamily="34" charset="0"/>
              </a:rPr>
              <a:t>分</a:t>
            </a:r>
            <a:br>
              <a:rPr lang="zh-CN" altLang="en-US" sz="2800" b="1" dirty="0">
                <a:latin typeface="Arial" panose="020B0604020202020204" pitchFamily="34" charset="0"/>
              </a:rPr>
            </a:br>
            <a:r>
              <a:rPr lang="en-US" altLang="zh-CN" sz="2800" b="1" dirty="0">
                <a:latin typeface="Arial" panose="020B0604020202020204" pitchFamily="34" charset="0"/>
              </a:rPr>
              <a:t>(1)</a:t>
            </a:r>
            <a:r>
              <a:rPr lang="zh-CN" altLang="zh-CN" sz="2800" b="1" dirty="0">
                <a:latin typeface="Arial" panose="020B0604020202020204" pitchFamily="34" charset="0"/>
              </a:rPr>
              <a:t>瓶内气体（或空气）的热胀冷缩、及具体正确说出水柱上升或下降的过程（</a:t>
            </a:r>
            <a:r>
              <a:rPr lang="en-US" altLang="zh-CN" sz="2800" b="1" dirty="0">
                <a:latin typeface="Arial" panose="020B0604020202020204" pitchFamily="34" charset="0"/>
              </a:rPr>
              <a:t>2</a:t>
            </a:r>
            <a:r>
              <a:rPr lang="zh-CN" altLang="en-US" sz="2800" b="1" dirty="0">
                <a:latin typeface="Arial" panose="020B0604020202020204" pitchFamily="34" charset="0"/>
              </a:rPr>
              <a:t>分</a:t>
            </a:r>
            <a:r>
              <a:rPr lang="zh-CN" altLang="zh-CN" sz="2800" b="1" dirty="0">
                <a:latin typeface="Arial" panose="020B0604020202020204" pitchFamily="34" charset="0"/>
              </a:rPr>
              <a:t>），只写热胀冷缩（</a:t>
            </a:r>
            <a:r>
              <a:rPr lang="en-US" altLang="zh-CN" sz="2800" b="1" dirty="0">
                <a:latin typeface="Arial" panose="020B0604020202020204" pitchFamily="34" charset="0"/>
              </a:rPr>
              <a:t>1</a:t>
            </a:r>
            <a:r>
              <a:rPr lang="zh-CN" altLang="en-US" sz="2800" b="1" dirty="0">
                <a:latin typeface="Arial" panose="020B0604020202020204" pitchFamily="34" charset="0"/>
              </a:rPr>
              <a:t>分），若写液体的热胀冷缩（</a:t>
            </a:r>
            <a:r>
              <a:rPr lang="en-US" altLang="zh-CN" sz="2800" b="1" dirty="0">
                <a:latin typeface="Arial" panose="020B0604020202020204" pitchFamily="34" charset="0"/>
              </a:rPr>
              <a:t>0</a:t>
            </a:r>
            <a:r>
              <a:rPr lang="zh-CN" altLang="en-US" sz="2800" b="1" dirty="0">
                <a:latin typeface="Arial" panose="020B0604020202020204" pitchFamily="34" charset="0"/>
              </a:rPr>
              <a:t>分）。</a:t>
            </a:r>
            <a:endParaRPr lang="zh-CN" altLang="en-US" sz="2800" b="1" dirty="0">
              <a:latin typeface="Arial" panose="020B0604020202020204" pitchFamily="34" charset="0"/>
            </a:endParaRPr>
          </a:p>
          <a:p>
            <a:r>
              <a:rPr lang="en-US" altLang="zh-CN" sz="2800" b="1" dirty="0">
                <a:latin typeface="Arial" panose="020B0604020202020204" pitchFamily="34" charset="0"/>
              </a:rPr>
              <a:t>(2)</a:t>
            </a:r>
            <a:r>
              <a:rPr lang="zh-CN" altLang="en-US" sz="2800" b="1" dirty="0">
                <a:latin typeface="Arial" panose="020B0604020202020204" pitchFamily="34" charset="0"/>
              </a:rPr>
              <a:t>本小题得分率较低。若没有回答</a:t>
            </a:r>
            <a:r>
              <a:rPr lang="en-US" altLang="zh-CN" sz="2800" b="1" dirty="0">
                <a:latin typeface="Arial" panose="020B0604020202020204" pitchFamily="34" charset="0"/>
              </a:rPr>
              <a:t>“</a:t>
            </a:r>
            <a:r>
              <a:rPr lang="zh-CN" altLang="en-US" sz="2800" b="1" dirty="0">
                <a:latin typeface="Arial" panose="020B0604020202020204" pitchFamily="34" charset="0"/>
              </a:rPr>
              <a:t>不能</a:t>
            </a:r>
            <a:r>
              <a:rPr lang="en-US" altLang="zh-CN" sz="2800" b="1" dirty="0">
                <a:latin typeface="Arial" panose="020B0604020202020204" pitchFamily="34" charset="0"/>
              </a:rPr>
              <a:t>”</a:t>
            </a:r>
            <a:r>
              <a:rPr lang="zh-CN" altLang="en-US" sz="2800" b="1" dirty="0">
                <a:latin typeface="Arial" panose="020B0604020202020204" pitchFamily="34" charset="0"/>
              </a:rPr>
              <a:t>，此项不得分，没有对数据的具体分析不得分，例如：超出量程，水全部排出等。</a:t>
            </a:r>
            <a:endParaRPr lang="zh-CN" altLang="en-US" sz="2800" b="1" dirty="0">
              <a:latin typeface="Arial" panose="020B0604020202020204" pitchFamily="34" charset="0"/>
            </a:endParaRPr>
          </a:p>
          <a:p>
            <a:r>
              <a:rPr lang="en-US" altLang="zh-CN" sz="2800" b="1" dirty="0">
                <a:latin typeface="Arial" panose="020B0604020202020204" pitchFamily="34" charset="0"/>
              </a:rPr>
              <a:t>(3)</a:t>
            </a:r>
            <a:r>
              <a:rPr lang="zh-CN" altLang="en-US" sz="2800" b="1" dirty="0">
                <a:latin typeface="Arial" panose="020B0604020202020204" pitchFamily="34" charset="0"/>
              </a:rPr>
              <a:t>换成不易蒸发的液体，或具体写出水换成水银、油都得满分。</a:t>
            </a:r>
            <a:endParaRPr lang="zh-CN" altLang="en-US" sz="2800" b="1" dirty="0">
              <a:latin typeface="Arial" panose="020B0604020202020204" pitchFamily="34" charset="0"/>
            </a:endParaRPr>
          </a:p>
          <a:p>
            <a:endParaRPr lang="zh-CN" altLang="en-US" sz="2800" b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文本框 100"/>
          <p:cNvSpPr txBox="1"/>
          <p:nvPr/>
        </p:nvSpPr>
        <p:spPr>
          <a:xfrm>
            <a:off x="261938" y="176213"/>
            <a:ext cx="8577262" cy="18145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zh-CN" sz="2800" b="1" dirty="0">
                <a:latin typeface="Arial" panose="020B0604020202020204" pitchFamily="34" charset="0"/>
              </a:rPr>
              <a:t>32.（1）两把钢尺长度变化太小，简单的测量工具无法测量出微小的变化．（答“两把钢尺温差不够大，长度变化太小”也可以） </a:t>
            </a:r>
            <a:endParaRPr lang="zh-CN" altLang="zh-CN" sz="2800" b="1" dirty="0">
              <a:latin typeface="Arial" panose="020B0604020202020204" pitchFamily="34" charset="0"/>
            </a:endParaRPr>
          </a:p>
          <a:p>
            <a:r>
              <a:rPr lang="zh-CN" altLang="zh-CN" sz="2800" b="1" dirty="0">
                <a:latin typeface="Arial" panose="020B0604020202020204" pitchFamily="34" charset="0"/>
              </a:rPr>
              <a:t>（2）OD指针示数变化 ； 放大 </a:t>
            </a:r>
            <a:endParaRPr lang="zh-CN" altLang="en-US" sz="2800" b="1" dirty="0">
              <a:latin typeface="Arial" panose="020B0604020202020204" pitchFamily="34" charset="0"/>
            </a:endParaRPr>
          </a:p>
        </p:txBody>
      </p:sp>
      <p:sp>
        <p:nvSpPr>
          <p:cNvPr id="11267" name="文本框 1"/>
          <p:cNvSpPr txBox="1"/>
          <p:nvPr/>
        </p:nvSpPr>
        <p:spPr>
          <a:xfrm>
            <a:off x="179388" y="2122488"/>
            <a:ext cx="8729662" cy="41541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400" b="1" dirty="0">
                <a:sym typeface="+mn-ea"/>
              </a:rPr>
              <a:t>【</a:t>
            </a:r>
            <a:r>
              <a:rPr lang="zh-CN" altLang="en-US" sz="2400" b="1" dirty="0">
                <a:solidFill>
                  <a:srgbClr val="FF0000"/>
                </a:solidFill>
                <a:sym typeface="+mn-ea"/>
              </a:rPr>
              <a:t>错题情况及评分标准</a:t>
            </a:r>
            <a:r>
              <a:rPr lang="zh-CN" altLang="en-US" sz="2400" b="1" dirty="0">
                <a:sym typeface="+mn-ea"/>
              </a:rPr>
              <a:t>】本题共</a:t>
            </a:r>
            <a:r>
              <a:rPr lang="en-US" altLang="zh-CN" sz="2400" b="1" dirty="0">
                <a:sym typeface="+mn-ea"/>
              </a:rPr>
              <a:t>6</a:t>
            </a:r>
            <a:r>
              <a:rPr lang="zh-CN" altLang="en-US" sz="2400" b="1" dirty="0">
                <a:sym typeface="+mn-ea"/>
              </a:rPr>
              <a:t>分，平均得分</a:t>
            </a:r>
            <a:r>
              <a:rPr lang="en-US" altLang="zh-CN" sz="2400" b="1" dirty="0">
                <a:sym typeface="+mn-ea"/>
              </a:rPr>
              <a:t>4</a:t>
            </a:r>
            <a:r>
              <a:rPr lang="zh-CN" altLang="en-US" sz="2400" b="1" dirty="0">
                <a:sym typeface="+mn-ea"/>
              </a:rPr>
              <a:t>分</a:t>
            </a:r>
            <a:endParaRPr lang="zh-CN" altLang="en-US" sz="2400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>
              <a:spcBef>
                <a:spcPct val="50000"/>
              </a:spcBef>
            </a:pPr>
            <a:r>
              <a:rPr lang="zh-CN" altLang="en-US" sz="2400" b="1" dirty="0">
                <a:sym typeface="+mn-ea"/>
              </a:rPr>
              <a:t>第</a:t>
            </a:r>
            <a:r>
              <a:rPr lang="en-US" altLang="zh-CN" sz="2400" b="1" dirty="0">
                <a:sym typeface="+mn-ea"/>
              </a:rPr>
              <a:t>1</a:t>
            </a:r>
            <a:r>
              <a:rPr lang="zh-CN" altLang="en-US" sz="2400" b="1" dirty="0">
                <a:sym typeface="+mn-ea"/>
              </a:rPr>
              <a:t>小题，两把钢尺长度变化太小，或</a:t>
            </a:r>
            <a:r>
              <a:rPr lang="zh-CN" altLang="en-US" sz="2400" b="1" dirty="0">
                <a:sym typeface="宋体" panose="02010600030101010101" pitchFamily="2" charset="-122"/>
              </a:rPr>
              <a:t>两把钢尺长度变化不明显，或</a:t>
            </a:r>
            <a:r>
              <a:rPr lang="zh-CN" altLang="en-US" sz="2400" b="1" dirty="0">
                <a:sym typeface="+mn-ea"/>
              </a:rPr>
              <a:t>测量工具无法测出微小的变化，或两把钢尺温差不大，长度变化太小。都可得</a:t>
            </a:r>
            <a:r>
              <a:rPr lang="en-US" altLang="zh-CN" sz="2400" b="1" dirty="0">
                <a:sym typeface="+mn-ea"/>
              </a:rPr>
              <a:t>2</a:t>
            </a:r>
            <a:r>
              <a:rPr lang="zh-CN" altLang="en-US" sz="2400" b="1" dirty="0">
                <a:sym typeface="+mn-ea"/>
              </a:rPr>
              <a:t>分。写钢尺不易变形，可得</a:t>
            </a:r>
            <a:r>
              <a:rPr lang="en-US" altLang="zh-CN" sz="2400" b="1" dirty="0">
                <a:sym typeface="+mn-ea"/>
              </a:rPr>
              <a:t>1</a:t>
            </a:r>
            <a:r>
              <a:rPr lang="zh-CN" altLang="en-US" sz="2400" b="1" dirty="0">
                <a:sym typeface="+mn-ea"/>
              </a:rPr>
              <a:t>分。部分同学没明白题意，直接写钢尺不受热胀冷缩影响，不给分。</a:t>
            </a:r>
            <a:endParaRPr lang="zh-CN" altLang="en-US" sz="2400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>
              <a:spcBef>
                <a:spcPct val="50000"/>
              </a:spcBef>
            </a:pPr>
            <a:r>
              <a:rPr lang="zh-CN" altLang="en-US" sz="2400" b="1" dirty="0">
                <a:sym typeface="+mn-ea"/>
              </a:rPr>
              <a:t>第</a:t>
            </a:r>
            <a:r>
              <a:rPr lang="en-US" altLang="zh-CN" sz="2400" b="1" dirty="0">
                <a:sym typeface="+mn-ea"/>
              </a:rPr>
              <a:t>2</a:t>
            </a:r>
            <a:r>
              <a:rPr lang="zh-CN" altLang="en-US" sz="2400" b="1" dirty="0">
                <a:sym typeface="+mn-ea"/>
              </a:rPr>
              <a:t>小题（</a:t>
            </a:r>
            <a:r>
              <a:rPr lang="en-US" altLang="zh-CN" sz="2400" b="1" dirty="0">
                <a:sym typeface="+mn-ea"/>
              </a:rPr>
              <a:t>1</a:t>
            </a:r>
            <a:r>
              <a:rPr lang="zh-CN" altLang="en-US" sz="2400" b="1" dirty="0">
                <a:sym typeface="+mn-ea"/>
              </a:rPr>
              <a:t>），</a:t>
            </a:r>
            <a:r>
              <a:rPr lang="zh-CN" altLang="zh-CN" sz="2400" b="1" dirty="0">
                <a:sym typeface="+mn-ea"/>
              </a:rPr>
              <a:t>写出</a:t>
            </a:r>
            <a:r>
              <a:rPr lang="en-US" altLang="zh-CN" sz="2400" b="1" dirty="0">
                <a:sym typeface="+mn-ea"/>
              </a:rPr>
              <a:t>“</a:t>
            </a:r>
            <a:r>
              <a:rPr lang="zh-CN" altLang="zh-CN" sz="2400" b="1" dirty="0">
                <a:sym typeface="+mn-ea"/>
              </a:rPr>
              <a:t>指针或刻度或</a:t>
            </a:r>
            <a:r>
              <a:rPr lang="en-US" altLang="zh-CN" sz="2400" b="1" dirty="0">
                <a:sym typeface="+mn-ea"/>
              </a:rPr>
              <a:t>OD</a:t>
            </a:r>
            <a:r>
              <a:rPr lang="zh-CN" altLang="en-US" sz="2400" b="1" dirty="0">
                <a:sym typeface="+mn-ea"/>
              </a:rPr>
              <a:t>或</a:t>
            </a:r>
            <a:r>
              <a:rPr lang="en-US" altLang="zh-CN" sz="2400" b="1" dirty="0">
                <a:sym typeface="+mn-ea"/>
              </a:rPr>
              <a:t>COD</a:t>
            </a:r>
            <a:r>
              <a:rPr lang="zh-CN" altLang="en-US" sz="2400" b="1" dirty="0">
                <a:sym typeface="+mn-ea"/>
              </a:rPr>
              <a:t>指向</a:t>
            </a:r>
            <a:r>
              <a:rPr lang="zh-CN" altLang="zh-CN" sz="2400" b="1" dirty="0">
                <a:sym typeface="+mn-ea"/>
              </a:rPr>
              <a:t>的示数变化</a:t>
            </a:r>
            <a:r>
              <a:rPr lang="en-US" altLang="zh-CN" sz="2400" b="1" dirty="0">
                <a:sym typeface="+mn-ea"/>
              </a:rPr>
              <a:t>”</a:t>
            </a:r>
            <a:r>
              <a:rPr lang="zh-CN" altLang="zh-CN" sz="2400" b="1" dirty="0">
                <a:sym typeface="+mn-ea"/>
              </a:rPr>
              <a:t>，都可得</a:t>
            </a:r>
            <a:r>
              <a:rPr lang="en-US" altLang="zh-CN" sz="2400" b="1" dirty="0">
                <a:sym typeface="+mn-ea"/>
              </a:rPr>
              <a:t>2</a:t>
            </a:r>
            <a:r>
              <a:rPr lang="zh-CN" altLang="en-US" sz="2400" b="1" dirty="0">
                <a:sym typeface="+mn-ea"/>
              </a:rPr>
              <a:t>分，但是写</a:t>
            </a:r>
            <a:r>
              <a:rPr lang="en-US" altLang="zh-CN" sz="2400" b="1" dirty="0">
                <a:sym typeface="+mn-ea"/>
              </a:rPr>
              <a:t>“</a:t>
            </a:r>
            <a:r>
              <a:rPr lang="zh-CN" altLang="en-US" sz="2400" b="1" dirty="0">
                <a:sym typeface="+mn-ea"/>
              </a:rPr>
              <a:t>角</a:t>
            </a:r>
            <a:r>
              <a:rPr lang="en-US" altLang="zh-CN" sz="2400" b="1" dirty="0">
                <a:sym typeface="宋体" panose="02010600030101010101" pitchFamily="2" charset="-122"/>
              </a:rPr>
              <a:t>COD</a:t>
            </a:r>
            <a:r>
              <a:rPr lang="zh-CN" altLang="en-US" sz="2400" b="1" dirty="0">
                <a:sym typeface="宋体" panose="02010600030101010101" pitchFamily="2" charset="-122"/>
              </a:rPr>
              <a:t>角度大小的变化</a:t>
            </a:r>
            <a:r>
              <a:rPr lang="en-US" altLang="zh-CN" sz="2400" b="1" dirty="0">
                <a:sym typeface="宋体" panose="02010600030101010101" pitchFamily="2" charset="-122"/>
              </a:rPr>
              <a:t>”</a:t>
            </a:r>
            <a:r>
              <a:rPr lang="zh-CN" altLang="en-US" sz="2400" b="1" dirty="0">
                <a:sym typeface="宋体" panose="02010600030101010101" pitchFamily="2" charset="-122"/>
              </a:rPr>
              <a:t>不给分，或</a:t>
            </a:r>
            <a:r>
              <a:rPr lang="en-US" altLang="zh-CN" sz="2400" b="1" dirty="0">
                <a:sym typeface="宋体" panose="02010600030101010101" pitchFamily="2" charset="-122"/>
              </a:rPr>
              <a:t>“</a:t>
            </a:r>
            <a:r>
              <a:rPr lang="zh-CN" altLang="en-US" sz="2400" b="1" dirty="0">
                <a:sym typeface="宋体" panose="02010600030101010101" pitchFamily="2" charset="-122"/>
              </a:rPr>
              <a:t>刻度尺</a:t>
            </a:r>
            <a:r>
              <a:rPr lang="en-US" altLang="zh-CN" sz="2400" b="1" dirty="0">
                <a:sym typeface="宋体" panose="02010600030101010101" pitchFamily="2" charset="-122"/>
              </a:rPr>
              <a:t>”</a:t>
            </a:r>
            <a:r>
              <a:rPr lang="zh-CN" altLang="en-US" sz="2400" b="1" dirty="0">
                <a:sym typeface="宋体" panose="02010600030101010101" pitchFamily="2" charset="-122"/>
              </a:rPr>
              <a:t>不给分。言不达意。第</a:t>
            </a:r>
            <a:r>
              <a:rPr lang="en-US" altLang="zh-CN" sz="2400" b="1" dirty="0">
                <a:sym typeface="宋体" panose="02010600030101010101" pitchFamily="2" charset="-122"/>
              </a:rPr>
              <a:t>2</a:t>
            </a:r>
            <a:r>
              <a:rPr lang="zh-CN" altLang="en-US" sz="2400" b="1" dirty="0">
                <a:sym typeface="宋体" panose="02010600030101010101" pitchFamily="2" charset="-122"/>
              </a:rPr>
              <a:t>小题（</a:t>
            </a:r>
            <a:r>
              <a:rPr lang="en-US" altLang="zh-CN" sz="2400" b="1" dirty="0">
                <a:sym typeface="宋体" panose="02010600030101010101" pitchFamily="2" charset="-122"/>
              </a:rPr>
              <a:t>2</a:t>
            </a:r>
            <a:r>
              <a:rPr lang="zh-CN" altLang="en-US" sz="2400" b="1" dirty="0">
                <a:sym typeface="宋体" panose="02010600030101010101" pitchFamily="2" charset="-122"/>
              </a:rPr>
              <a:t>）此项失分率较高。</a:t>
            </a:r>
            <a:r>
              <a:rPr lang="en-US" altLang="zh-CN" sz="2400" b="1" dirty="0">
                <a:sym typeface="宋体" panose="02010600030101010101" pitchFamily="2" charset="-122"/>
              </a:rPr>
              <a:t>“</a:t>
            </a:r>
            <a:r>
              <a:rPr lang="zh-CN" altLang="en-US" sz="2400" b="1" dirty="0">
                <a:sym typeface="宋体" panose="02010600030101010101" pitchFamily="2" charset="-122"/>
              </a:rPr>
              <a:t>放大，或方便观察或观察更明显</a:t>
            </a:r>
            <a:r>
              <a:rPr lang="en-US" altLang="zh-CN" sz="2400" b="1" dirty="0">
                <a:sym typeface="宋体" panose="02010600030101010101" pitchFamily="2" charset="-122"/>
              </a:rPr>
              <a:t>”</a:t>
            </a:r>
            <a:r>
              <a:rPr lang="zh-CN" altLang="en-US" sz="2400" b="1" dirty="0">
                <a:sym typeface="宋体" panose="02010600030101010101" pitchFamily="2" charset="-122"/>
              </a:rPr>
              <a:t>，均可得</a:t>
            </a:r>
            <a:r>
              <a:rPr lang="en-US" altLang="zh-CN" sz="2400" b="1" dirty="0">
                <a:sym typeface="宋体" panose="02010600030101010101" pitchFamily="2" charset="-122"/>
              </a:rPr>
              <a:t>2</a:t>
            </a:r>
            <a:r>
              <a:rPr lang="zh-CN" altLang="en-US" sz="2400" b="1" dirty="0">
                <a:sym typeface="宋体" panose="02010600030101010101" pitchFamily="2" charset="-122"/>
              </a:rPr>
              <a:t>分。大部分同学写</a:t>
            </a:r>
            <a:r>
              <a:rPr lang="en-US" altLang="zh-CN" sz="2400" b="1" dirty="0">
                <a:sym typeface="宋体" panose="02010600030101010101" pitchFamily="2" charset="-122"/>
              </a:rPr>
              <a:t>“</a:t>
            </a:r>
            <a:r>
              <a:rPr lang="zh-CN" altLang="en-US" sz="2400" b="1" dirty="0">
                <a:sym typeface="宋体" panose="02010600030101010101" pitchFamily="2" charset="-122"/>
              </a:rPr>
              <a:t>热胀冷缩</a:t>
            </a:r>
            <a:r>
              <a:rPr lang="en-US" altLang="zh-CN" sz="2400" b="1" dirty="0">
                <a:sym typeface="宋体" panose="02010600030101010101" pitchFamily="2" charset="-122"/>
              </a:rPr>
              <a:t>”</a:t>
            </a:r>
            <a:r>
              <a:rPr lang="zh-CN" altLang="en-US" sz="2400" b="1" dirty="0">
                <a:sym typeface="宋体" panose="02010600030101010101" pitchFamily="2" charset="-122"/>
              </a:rPr>
              <a:t>，没明白题意。</a:t>
            </a:r>
            <a:endParaRPr lang="zh-CN" altLang="en-US" sz="2400" b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90" name="文本框 100"/>
          <p:cNvSpPr txBox="1"/>
          <p:nvPr/>
        </p:nvSpPr>
        <p:spPr>
          <a:xfrm>
            <a:off x="193675" y="139700"/>
            <a:ext cx="8447088" cy="18161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800" b="1" dirty="0">
                <a:latin typeface="宋体" panose="02010600030101010101" pitchFamily="2" charset="-122"/>
              </a:rPr>
              <a:t>32.（3）取与铜棒AB长度，粗细相同的铝棒（或其他金属），用酒精灯加热相同的时间，观察OD指针偏转角度（示数），并与铜棒的偏转角度（示数）进行比较，得到结论。</a:t>
            </a:r>
            <a:endParaRPr lang="en-US" altLang="zh-CN" sz="2800" b="1" dirty="0">
              <a:latin typeface="宋体" panose="02010600030101010101" pitchFamily="2" charset="-122"/>
            </a:endParaRPr>
          </a:p>
        </p:txBody>
      </p:sp>
      <p:sp>
        <p:nvSpPr>
          <p:cNvPr id="12291" name="文本框 9220"/>
          <p:cNvSpPr txBox="1"/>
          <p:nvPr/>
        </p:nvSpPr>
        <p:spPr>
          <a:xfrm>
            <a:off x="179388" y="2122488"/>
            <a:ext cx="8729662" cy="4683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ts val="1440"/>
              </a:spcBef>
            </a:pPr>
            <a:r>
              <a:rPr lang="zh-CN" altLang="en-US" sz="2400" b="1" dirty="0">
                <a:latin typeface="Arial" panose="020B0604020202020204" pitchFamily="34" charset="0"/>
              </a:rPr>
              <a:t>【错题情况及评分标准】本题共</a:t>
            </a:r>
            <a:r>
              <a:rPr lang="en-US" altLang="zh-CN" sz="2400" b="1" dirty="0">
                <a:latin typeface="Arial" panose="020B0604020202020204" pitchFamily="34" charset="0"/>
              </a:rPr>
              <a:t> 3 </a:t>
            </a:r>
            <a:r>
              <a:rPr lang="zh-CN" altLang="en-US" sz="2400" b="1" dirty="0">
                <a:latin typeface="Arial" panose="020B0604020202020204" pitchFamily="34" charset="0"/>
              </a:rPr>
              <a:t>分，平均得分</a:t>
            </a:r>
            <a:r>
              <a:rPr lang="en-US" altLang="zh-CN" sz="2400" b="1" dirty="0">
                <a:latin typeface="Arial" panose="020B0604020202020204" pitchFamily="34" charset="0"/>
              </a:rPr>
              <a:t>1.6</a:t>
            </a:r>
            <a:r>
              <a:rPr lang="zh-CN" altLang="en-US" sz="2400" b="1" dirty="0">
                <a:latin typeface="Arial" panose="020B0604020202020204" pitchFamily="34" charset="0"/>
              </a:rPr>
              <a:t>分</a:t>
            </a:r>
            <a:br>
              <a:rPr lang="zh-CN" altLang="en-US" sz="2400" b="1" dirty="0">
                <a:latin typeface="Arial" panose="020B0604020202020204" pitchFamily="34" charset="0"/>
              </a:rPr>
            </a:br>
            <a:r>
              <a:rPr lang="zh-CN" altLang="en-US" sz="2400" b="1" dirty="0">
                <a:latin typeface="Arial" panose="020B0604020202020204" pitchFamily="34" charset="0"/>
              </a:rPr>
              <a:t>第</a:t>
            </a:r>
            <a:r>
              <a:rPr lang="en-US" altLang="zh-CN" sz="2400" b="1" dirty="0">
                <a:latin typeface="Arial" panose="020B0604020202020204" pitchFamily="34" charset="0"/>
              </a:rPr>
              <a:t>1</a:t>
            </a:r>
            <a:r>
              <a:rPr lang="zh-CN" altLang="en-US" sz="2400" b="1" dirty="0">
                <a:latin typeface="Arial" panose="020B0604020202020204" pitchFamily="34" charset="0"/>
              </a:rPr>
              <a:t>个得分点：自变量的设置，得分率较高，由于对评分要求较宽，学生有写出材料不同，甚至塑料、木头等材料也予以给分。</a:t>
            </a:r>
            <a:endParaRPr lang="zh-CN" altLang="en-US" sz="2400" b="1" dirty="0">
              <a:latin typeface="Arial" panose="020B0604020202020204" pitchFamily="34" charset="0"/>
            </a:endParaRPr>
          </a:p>
          <a:p>
            <a:pPr>
              <a:spcBef>
                <a:spcPts val="1440"/>
              </a:spcBef>
            </a:pPr>
            <a:r>
              <a:rPr lang="zh-CN" altLang="en-US" sz="2400" b="1" dirty="0">
                <a:latin typeface="Arial" panose="020B0604020202020204" pitchFamily="34" charset="0"/>
              </a:rPr>
              <a:t>第</a:t>
            </a:r>
            <a:r>
              <a:rPr lang="en-US" altLang="zh-CN" sz="2400" b="1" dirty="0">
                <a:latin typeface="Arial" panose="020B0604020202020204" pitchFamily="34" charset="0"/>
              </a:rPr>
              <a:t>2</a:t>
            </a:r>
            <a:r>
              <a:rPr lang="zh-CN" altLang="en-US" sz="2400" b="1" dirty="0">
                <a:latin typeface="Arial" panose="020B0604020202020204" pitchFamily="34" charset="0"/>
              </a:rPr>
              <a:t>个得分点：无关变量的设置，错误率较高。</a:t>
            </a:r>
            <a:endParaRPr lang="en-US" altLang="zh-CN" sz="2400" b="1" dirty="0">
              <a:latin typeface="Arial" panose="020B0604020202020204" pitchFamily="34" charset="0"/>
            </a:endParaRPr>
          </a:p>
          <a:p>
            <a:pPr>
              <a:spcBef>
                <a:spcPts val="1440"/>
              </a:spcBef>
            </a:pPr>
            <a:r>
              <a:rPr lang="zh-CN" altLang="en-US" sz="2400" b="1" dirty="0">
                <a:latin typeface="Arial" panose="020B0604020202020204" pitchFamily="34" charset="0"/>
              </a:rPr>
              <a:t>评分标准：长度和粗细相同、长度和体积相同、加热时间相同等写出一个都给分，但只写长度相同、体积相同、粗细均匀、</a:t>
            </a:r>
            <a:r>
              <a:rPr lang="zh-CN" altLang="en-US" sz="2400" b="1" dirty="0">
                <a:latin typeface="Arial" panose="020B0604020202020204" pitchFamily="34" charset="0"/>
                <a:sym typeface="宋体" panose="02010600030101010101" pitchFamily="2" charset="-122"/>
              </a:rPr>
              <a:t>写除了材料外其他条件都相同没有具体指出不得分。</a:t>
            </a:r>
            <a:endParaRPr lang="en-US" altLang="zh-CN" sz="2400" b="1" dirty="0">
              <a:latin typeface="Arial" panose="020B0604020202020204" pitchFamily="34" charset="0"/>
            </a:endParaRPr>
          </a:p>
          <a:p>
            <a:pPr>
              <a:spcBef>
                <a:spcPts val="1440"/>
              </a:spcBef>
            </a:pPr>
            <a:r>
              <a:rPr lang="zh-CN" altLang="en-US" sz="2400" b="1" dirty="0">
                <a:latin typeface="Arial" panose="020B0604020202020204" pitchFamily="34" charset="0"/>
              </a:rPr>
              <a:t>第</a:t>
            </a:r>
            <a:r>
              <a:rPr lang="en-US" altLang="zh-CN" sz="2400" b="1" dirty="0">
                <a:latin typeface="Arial" panose="020B0604020202020204" pitchFamily="34" charset="0"/>
              </a:rPr>
              <a:t>3</a:t>
            </a:r>
            <a:r>
              <a:rPr lang="zh-CN" altLang="en-US" sz="2400" b="1" dirty="0">
                <a:latin typeface="Arial" panose="020B0604020202020204" pitchFamily="34" charset="0"/>
              </a:rPr>
              <a:t>个得分点：因变量的判断依据：错误率较高。</a:t>
            </a:r>
            <a:endParaRPr lang="en-US" altLang="zh-CN" sz="2400" b="1" dirty="0">
              <a:latin typeface="Arial" panose="020B0604020202020204" pitchFamily="34" charset="0"/>
            </a:endParaRPr>
          </a:p>
          <a:p>
            <a:pPr>
              <a:spcBef>
                <a:spcPts val="1440"/>
              </a:spcBef>
            </a:pPr>
            <a:r>
              <a:rPr lang="zh-CN" altLang="en-US" sz="2400" b="1" dirty="0">
                <a:latin typeface="Arial" panose="020B0604020202020204" pitchFamily="34" charset="0"/>
              </a:rPr>
              <a:t>评分标准：观察指针偏转角度、结果比较写出其一都给分。</a:t>
            </a:r>
            <a:endParaRPr lang="en-US" altLang="zh-CN" sz="2400" b="1" dirty="0">
              <a:latin typeface="Arial" panose="020B0604020202020204" pitchFamily="34" charset="0"/>
            </a:endParaRPr>
          </a:p>
          <a:p>
            <a:pPr>
              <a:spcBef>
                <a:spcPts val="1440"/>
              </a:spcBef>
            </a:pPr>
            <a:r>
              <a:rPr lang="zh-CN" altLang="en-US" sz="2400" b="1" dirty="0">
                <a:latin typeface="Arial" panose="020B0604020202020204" pitchFamily="34" charset="0"/>
              </a:rPr>
              <a:t>注：实验方案设计错误，不予以给分。</a:t>
            </a:r>
            <a:endParaRPr lang="zh-CN" altLang="en-US" sz="2400" b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1_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2510</Words>
  <Application>WPS 演示</Application>
  <PresentationFormat>全屏显示(4:3)</PresentationFormat>
  <Paragraphs>155</Paragraphs>
  <Slides>10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10</vt:i4>
      </vt:variant>
    </vt:vector>
  </HeadingPairs>
  <TitlesOfParts>
    <vt:vector size="19" baseType="lpstr">
      <vt:lpstr>Arial</vt:lpstr>
      <vt:lpstr>宋体</vt:lpstr>
      <vt:lpstr>Wingdings</vt:lpstr>
      <vt:lpstr>Calibri</vt:lpstr>
      <vt:lpstr>Times New Roman</vt:lpstr>
      <vt:lpstr>微软雅黑</vt:lpstr>
      <vt:lpstr>Arial Unicode MS</vt:lpstr>
      <vt:lpstr>默认设计模板</vt:lpstr>
      <vt:lpstr>1_默认设计模板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瑞安市安阳实验中学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赵秀华</dc:creator>
  <cp:lastModifiedBy>apple</cp:lastModifiedBy>
  <cp:revision>38</cp:revision>
  <dcterms:created xsi:type="dcterms:W3CDTF">2016-09-30T01:30:44Z</dcterms:created>
  <dcterms:modified xsi:type="dcterms:W3CDTF">2019-11-03T13:04:07Z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2052-11.1.0.7764</vt:lpwstr>
  </property>
</Properties>
</file>